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70" r:id="rId10"/>
    <p:sldId id="262" r:id="rId11"/>
    <p:sldId id="271" r:id="rId12"/>
    <p:sldId id="263" r:id="rId13"/>
    <p:sldId id="272" r:id="rId14"/>
    <p:sldId id="264" r:id="rId15"/>
    <p:sldId id="265" r:id="rId16"/>
    <p:sldId id="273" r:id="rId17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091444-DF8B-134A-8754-82E48A6DE305}" v="946" dt="2026-02-19T14:08:53.3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74"/>
    <p:restoredTop sz="94725"/>
  </p:normalViewPr>
  <p:slideViewPr>
    <p:cSldViewPr snapToGrid="0">
      <p:cViewPr varScale="1">
        <p:scale>
          <a:sx n="91" d="100"/>
          <a:sy n="91" d="100"/>
        </p:scale>
        <p:origin x="200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07D893-925C-2846-80E9-BD4118D3F394}" type="doc">
      <dgm:prSet loTypeId="urn:microsoft.com/office/officeart/2005/8/layout/chevron2" loCatId="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BCC8C123-13D1-0042-8545-13205B6E2739}">
      <dgm:prSet phldrT="[Text]"/>
      <dgm:spPr/>
      <dgm:t>
        <a:bodyPr/>
        <a:lstStyle/>
        <a:p>
          <a:pPr>
            <a:buNone/>
          </a:pPr>
          <a:r>
            <a:rPr lang="en-ID" b="1" dirty="0"/>
            <a:t>Data Sources</a:t>
          </a:r>
          <a:endParaRPr lang="en-US" dirty="0"/>
        </a:p>
      </dgm:t>
    </dgm:pt>
    <dgm:pt modelId="{A297F5FB-4C00-364F-B9BE-431972CFF47C}" type="parTrans" cxnId="{13E832EE-99B9-2F46-BA65-7920329A8987}">
      <dgm:prSet/>
      <dgm:spPr/>
      <dgm:t>
        <a:bodyPr/>
        <a:lstStyle/>
        <a:p>
          <a:endParaRPr lang="en-US"/>
        </a:p>
      </dgm:t>
    </dgm:pt>
    <dgm:pt modelId="{328784CC-DAC5-B74C-9176-E4D863C5AC59}" type="sibTrans" cxnId="{13E832EE-99B9-2F46-BA65-7920329A8987}">
      <dgm:prSet/>
      <dgm:spPr/>
      <dgm:t>
        <a:bodyPr/>
        <a:lstStyle/>
        <a:p>
          <a:endParaRPr lang="en-US"/>
        </a:p>
      </dgm:t>
    </dgm:pt>
    <dgm:pt modelId="{11C083AD-0920-B640-8870-D87F21677F82}">
      <dgm:prSet phldrT="[Text]"/>
      <dgm:spPr/>
      <dgm:t>
        <a:bodyPr/>
        <a:lstStyle/>
        <a:p>
          <a:pPr>
            <a:buNone/>
          </a:pPr>
          <a:r>
            <a:rPr lang="en-ID" dirty="0">
              <a:latin typeface=""/>
            </a:rPr>
            <a:t>UNCTAD bilateral transport cost and trade + Country Panel data (GDP, population, Distance) + Product Supply-demand / FAO food balance (Calorific needs + Production) + Transport Related (Freight Rate and LBSCI) </a:t>
          </a:r>
          <a:endParaRPr lang="en-US" dirty="0">
            <a:latin typeface=""/>
          </a:endParaRPr>
        </a:p>
      </dgm:t>
    </dgm:pt>
    <dgm:pt modelId="{135B8961-99DB-7840-AE7C-05A996D13B06}" type="parTrans" cxnId="{1A5885EA-CDE8-B64F-962F-711C63447F6B}">
      <dgm:prSet/>
      <dgm:spPr/>
      <dgm:t>
        <a:bodyPr/>
        <a:lstStyle/>
        <a:p>
          <a:endParaRPr lang="en-US"/>
        </a:p>
      </dgm:t>
    </dgm:pt>
    <dgm:pt modelId="{3BA5545F-F992-EE45-A2B7-B9940FEB9EFE}" type="sibTrans" cxnId="{1A5885EA-CDE8-B64F-962F-711C63447F6B}">
      <dgm:prSet/>
      <dgm:spPr/>
      <dgm:t>
        <a:bodyPr/>
        <a:lstStyle/>
        <a:p>
          <a:endParaRPr lang="en-US"/>
        </a:p>
      </dgm:t>
    </dgm:pt>
    <dgm:pt modelId="{704A57F4-8F3A-F141-B189-2796DD0905A3}">
      <dgm:prSet phldrT="[Text]"/>
      <dgm:spPr/>
      <dgm:t>
        <a:bodyPr/>
        <a:lstStyle/>
        <a:p>
          <a:r>
            <a:rPr lang="en-US" dirty="0"/>
            <a:t>Data Preparation</a:t>
          </a:r>
        </a:p>
      </dgm:t>
    </dgm:pt>
    <dgm:pt modelId="{C119F687-2901-3943-966C-047F31454C13}" type="parTrans" cxnId="{951892F0-3D57-B046-923B-9114EE3D9ECC}">
      <dgm:prSet/>
      <dgm:spPr/>
      <dgm:t>
        <a:bodyPr/>
        <a:lstStyle/>
        <a:p>
          <a:endParaRPr lang="en-US"/>
        </a:p>
      </dgm:t>
    </dgm:pt>
    <dgm:pt modelId="{2A2995F4-28C2-2848-B142-D5DCB95B176F}" type="sibTrans" cxnId="{951892F0-3D57-B046-923B-9114EE3D9ECC}">
      <dgm:prSet/>
      <dgm:spPr/>
      <dgm:t>
        <a:bodyPr/>
        <a:lstStyle/>
        <a:p>
          <a:endParaRPr lang="en-US"/>
        </a:p>
      </dgm:t>
    </dgm:pt>
    <dgm:pt modelId="{D81761EB-3004-714E-A6AB-DF31274BEDD3}">
      <dgm:prSet phldrT="[Text]"/>
      <dgm:spPr/>
      <dgm:t>
        <a:bodyPr/>
        <a:lstStyle/>
        <a:p>
          <a:r>
            <a:rPr lang="en-US" dirty="0">
              <a:latin typeface=""/>
            </a:rPr>
            <a:t>Combine Data Product x Origin Country x Destination Country, ensure most of the observed data have panel data of Country economies, Product Supply-Demand, and Transport proxies.</a:t>
          </a:r>
        </a:p>
      </dgm:t>
    </dgm:pt>
    <dgm:pt modelId="{9193A429-3E54-5B44-8147-CA4658DBD9CC}" type="parTrans" cxnId="{3102426E-ECAC-664F-A162-36616A025E40}">
      <dgm:prSet/>
      <dgm:spPr/>
      <dgm:t>
        <a:bodyPr/>
        <a:lstStyle/>
        <a:p>
          <a:endParaRPr lang="en-US"/>
        </a:p>
      </dgm:t>
    </dgm:pt>
    <dgm:pt modelId="{41834E6F-EB6A-6440-B685-F43312F11FAA}" type="sibTrans" cxnId="{3102426E-ECAC-664F-A162-36616A025E40}">
      <dgm:prSet/>
      <dgm:spPr/>
      <dgm:t>
        <a:bodyPr/>
        <a:lstStyle/>
        <a:p>
          <a:endParaRPr lang="en-US"/>
        </a:p>
      </dgm:t>
    </dgm:pt>
    <dgm:pt modelId="{742FB740-3621-E24C-8AEC-DE1E542BB16F}">
      <dgm:prSet phldrT="[Text]"/>
      <dgm:spPr/>
      <dgm:t>
        <a:bodyPr/>
        <a:lstStyle/>
        <a:p>
          <a:r>
            <a:rPr lang="en-US" dirty="0"/>
            <a:t>Segmentation</a:t>
          </a:r>
        </a:p>
      </dgm:t>
    </dgm:pt>
    <dgm:pt modelId="{1A77194A-F89B-C548-88E9-104D6BC192CE}" type="parTrans" cxnId="{995AC886-D58A-FA40-9F41-027AC7A69B4A}">
      <dgm:prSet/>
      <dgm:spPr/>
      <dgm:t>
        <a:bodyPr/>
        <a:lstStyle/>
        <a:p>
          <a:endParaRPr lang="en-US"/>
        </a:p>
      </dgm:t>
    </dgm:pt>
    <dgm:pt modelId="{0CBBDECB-5639-F847-9B65-E6FD33C6CD36}" type="sibTrans" cxnId="{995AC886-D58A-FA40-9F41-027AC7A69B4A}">
      <dgm:prSet/>
      <dgm:spPr/>
      <dgm:t>
        <a:bodyPr/>
        <a:lstStyle/>
        <a:p>
          <a:endParaRPr lang="en-US"/>
        </a:p>
      </dgm:t>
    </dgm:pt>
    <dgm:pt modelId="{A94B1FBA-BBBF-714F-80FB-C1821DDE7111}">
      <dgm:prSet phldrT="[Text]"/>
      <dgm:spPr/>
      <dgm:t>
        <a:bodyPr/>
        <a:lstStyle/>
        <a:p>
          <a:r>
            <a:rPr lang="en-ID" dirty="0">
              <a:latin typeface=""/>
            </a:rPr>
            <a:t>Commodity: cereal focus, group based on HS header 10, consist of 8 Products</a:t>
          </a:r>
          <a:endParaRPr lang="en-US" dirty="0">
            <a:latin typeface=""/>
          </a:endParaRPr>
        </a:p>
      </dgm:t>
    </dgm:pt>
    <dgm:pt modelId="{12728CC7-053B-8B44-9FB4-5F9C88D86A03}" type="parTrans" cxnId="{663F3DBE-BAD5-4B43-BFE8-CFC985CA15F7}">
      <dgm:prSet/>
      <dgm:spPr/>
      <dgm:t>
        <a:bodyPr/>
        <a:lstStyle/>
        <a:p>
          <a:endParaRPr lang="en-US"/>
        </a:p>
      </dgm:t>
    </dgm:pt>
    <dgm:pt modelId="{6A06F4F2-40A4-EA41-AD38-9EB8A91B8EF6}" type="sibTrans" cxnId="{663F3DBE-BAD5-4B43-BFE8-CFC985CA15F7}">
      <dgm:prSet/>
      <dgm:spPr/>
      <dgm:t>
        <a:bodyPr/>
        <a:lstStyle/>
        <a:p>
          <a:endParaRPr lang="en-US"/>
        </a:p>
      </dgm:t>
    </dgm:pt>
    <dgm:pt modelId="{AE8A76B6-FD69-0149-AEE2-48EE7A77C63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D" dirty="0">
              <a:latin typeface=""/>
            </a:rPr>
            <a:t>Country: import dependency &amp; maritime reliance</a:t>
          </a:r>
        </a:p>
      </dgm:t>
    </dgm:pt>
    <dgm:pt modelId="{1953A5FA-2EDA-024E-B5A0-0644BEF8DD68}" type="parTrans" cxnId="{B3BB671F-EB2E-6240-8082-E27E8D4EED3F}">
      <dgm:prSet/>
      <dgm:spPr/>
      <dgm:t>
        <a:bodyPr/>
        <a:lstStyle/>
        <a:p>
          <a:endParaRPr lang="en-US"/>
        </a:p>
      </dgm:t>
    </dgm:pt>
    <dgm:pt modelId="{4A7538D9-6FD9-0B43-8BCA-6A2539EF84D5}" type="sibTrans" cxnId="{B3BB671F-EB2E-6240-8082-E27E8D4EED3F}">
      <dgm:prSet/>
      <dgm:spPr/>
      <dgm:t>
        <a:bodyPr/>
        <a:lstStyle/>
        <a:p>
          <a:endParaRPr lang="en-US"/>
        </a:p>
      </dgm:t>
    </dgm:pt>
    <dgm:pt modelId="{A2137D6B-E911-604E-8986-E70863D7BCD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D" dirty="0">
              <a:latin typeface=""/>
            </a:rPr>
            <a:t>Corridor: concentration &amp; exposure</a:t>
          </a:r>
        </a:p>
      </dgm:t>
    </dgm:pt>
    <dgm:pt modelId="{F9F5F3F3-62BD-8C4F-BD26-A18DA9443C55}" type="parTrans" cxnId="{62F9ACC6-D225-B049-A215-522AC63231FD}">
      <dgm:prSet/>
      <dgm:spPr/>
      <dgm:t>
        <a:bodyPr/>
        <a:lstStyle/>
        <a:p>
          <a:endParaRPr lang="en-US"/>
        </a:p>
      </dgm:t>
    </dgm:pt>
    <dgm:pt modelId="{32D6343C-C915-0D4F-9715-8B37265BC697}" type="sibTrans" cxnId="{62F9ACC6-D225-B049-A215-522AC63231FD}">
      <dgm:prSet/>
      <dgm:spPr/>
      <dgm:t>
        <a:bodyPr/>
        <a:lstStyle/>
        <a:p>
          <a:endParaRPr lang="en-US"/>
        </a:p>
      </dgm:t>
    </dgm:pt>
    <dgm:pt modelId="{1696A909-8225-EB4F-A551-0AF9A3B76D67}" type="pres">
      <dgm:prSet presAssocID="{9C07D893-925C-2846-80E9-BD4118D3F394}" presName="linearFlow" presStyleCnt="0">
        <dgm:presLayoutVars>
          <dgm:dir/>
          <dgm:animLvl val="lvl"/>
          <dgm:resizeHandles val="exact"/>
        </dgm:presLayoutVars>
      </dgm:prSet>
      <dgm:spPr/>
    </dgm:pt>
    <dgm:pt modelId="{2C756A64-CB6A-7648-9D08-AD57AACBCE74}" type="pres">
      <dgm:prSet presAssocID="{BCC8C123-13D1-0042-8545-13205B6E2739}" presName="composite" presStyleCnt="0"/>
      <dgm:spPr/>
    </dgm:pt>
    <dgm:pt modelId="{C0F18897-0638-3743-824F-1EC9E4387E21}" type="pres">
      <dgm:prSet presAssocID="{BCC8C123-13D1-0042-8545-13205B6E2739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83454118-506B-024E-9643-1F85D01D7A81}" type="pres">
      <dgm:prSet presAssocID="{BCC8C123-13D1-0042-8545-13205B6E2739}" presName="descendantText" presStyleLbl="alignAcc1" presStyleIdx="0" presStyleCnt="3">
        <dgm:presLayoutVars>
          <dgm:bulletEnabled val="1"/>
        </dgm:presLayoutVars>
      </dgm:prSet>
      <dgm:spPr/>
    </dgm:pt>
    <dgm:pt modelId="{F5C8B105-5DC0-F244-BD47-A8B3A5987700}" type="pres">
      <dgm:prSet presAssocID="{328784CC-DAC5-B74C-9176-E4D863C5AC59}" presName="sp" presStyleCnt="0"/>
      <dgm:spPr/>
    </dgm:pt>
    <dgm:pt modelId="{54BC8666-5CCD-4B4F-9FBC-4B629BF33707}" type="pres">
      <dgm:prSet presAssocID="{704A57F4-8F3A-F141-B189-2796DD0905A3}" presName="composite" presStyleCnt="0"/>
      <dgm:spPr/>
    </dgm:pt>
    <dgm:pt modelId="{5A9E8459-A0C9-8044-9B6D-1389C86D6F41}" type="pres">
      <dgm:prSet presAssocID="{704A57F4-8F3A-F141-B189-2796DD0905A3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0B4EBC4A-D288-D447-98D9-F8B50C332CFC}" type="pres">
      <dgm:prSet presAssocID="{704A57F4-8F3A-F141-B189-2796DD0905A3}" presName="descendantText" presStyleLbl="alignAcc1" presStyleIdx="1" presStyleCnt="3">
        <dgm:presLayoutVars>
          <dgm:bulletEnabled val="1"/>
        </dgm:presLayoutVars>
      </dgm:prSet>
      <dgm:spPr/>
    </dgm:pt>
    <dgm:pt modelId="{B16F3B0D-79DC-4847-B711-7A280868642E}" type="pres">
      <dgm:prSet presAssocID="{2A2995F4-28C2-2848-B142-D5DCB95B176F}" presName="sp" presStyleCnt="0"/>
      <dgm:spPr/>
    </dgm:pt>
    <dgm:pt modelId="{355A6DA7-7DCF-E14D-BA7F-5FAEBE59A06C}" type="pres">
      <dgm:prSet presAssocID="{742FB740-3621-E24C-8AEC-DE1E542BB16F}" presName="composite" presStyleCnt="0"/>
      <dgm:spPr/>
    </dgm:pt>
    <dgm:pt modelId="{3200F30C-65EC-E34C-8DA9-D729F550FDA9}" type="pres">
      <dgm:prSet presAssocID="{742FB740-3621-E24C-8AEC-DE1E542BB16F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D55D87CA-4215-A047-8B3A-E9C74A5C51C9}" type="pres">
      <dgm:prSet presAssocID="{742FB740-3621-E24C-8AEC-DE1E542BB16F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B3BB671F-EB2E-6240-8082-E27E8D4EED3F}" srcId="{742FB740-3621-E24C-8AEC-DE1E542BB16F}" destId="{AE8A76B6-FD69-0149-AEE2-48EE7A77C630}" srcOrd="1" destOrd="0" parTransId="{1953A5FA-2EDA-024E-B5A0-0644BEF8DD68}" sibTransId="{4A7538D9-6FD9-0B43-8BCA-6A2539EF84D5}"/>
    <dgm:cxn modelId="{7A9A0A36-A565-EC4C-A3B2-98E233EED20D}" type="presOf" srcId="{BCC8C123-13D1-0042-8545-13205B6E2739}" destId="{C0F18897-0638-3743-824F-1EC9E4387E21}" srcOrd="0" destOrd="0" presId="urn:microsoft.com/office/officeart/2005/8/layout/chevron2"/>
    <dgm:cxn modelId="{DB457540-6BE9-F143-B911-833A32304EA4}" type="presOf" srcId="{A2137D6B-E911-604E-8986-E70863D7BCD3}" destId="{D55D87CA-4215-A047-8B3A-E9C74A5C51C9}" srcOrd="0" destOrd="2" presId="urn:microsoft.com/office/officeart/2005/8/layout/chevron2"/>
    <dgm:cxn modelId="{66F7FD60-8460-AE47-8379-14C58ACE6D3F}" type="presOf" srcId="{742FB740-3621-E24C-8AEC-DE1E542BB16F}" destId="{3200F30C-65EC-E34C-8DA9-D729F550FDA9}" srcOrd="0" destOrd="0" presId="urn:microsoft.com/office/officeart/2005/8/layout/chevron2"/>
    <dgm:cxn modelId="{FCC69A6B-B43F-EE40-9B82-685EB4F49E2A}" type="presOf" srcId="{D81761EB-3004-714E-A6AB-DF31274BEDD3}" destId="{0B4EBC4A-D288-D447-98D9-F8B50C332CFC}" srcOrd="0" destOrd="0" presId="urn:microsoft.com/office/officeart/2005/8/layout/chevron2"/>
    <dgm:cxn modelId="{3102426E-ECAC-664F-A162-36616A025E40}" srcId="{704A57F4-8F3A-F141-B189-2796DD0905A3}" destId="{D81761EB-3004-714E-A6AB-DF31274BEDD3}" srcOrd="0" destOrd="0" parTransId="{9193A429-3E54-5B44-8147-CA4658DBD9CC}" sibTransId="{41834E6F-EB6A-6440-B685-F43312F11FAA}"/>
    <dgm:cxn modelId="{DC4C5383-C71D-B349-AA77-7AC699F1EF6A}" type="presOf" srcId="{704A57F4-8F3A-F141-B189-2796DD0905A3}" destId="{5A9E8459-A0C9-8044-9B6D-1389C86D6F41}" srcOrd="0" destOrd="0" presId="urn:microsoft.com/office/officeart/2005/8/layout/chevron2"/>
    <dgm:cxn modelId="{995AC886-D58A-FA40-9F41-027AC7A69B4A}" srcId="{9C07D893-925C-2846-80E9-BD4118D3F394}" destId="{742FB740-3621-E24C-8AEC-DE1E542BB16F}" srcOrd="2" destOrd="0" parTransId="{1A77194A-F89B-C548-88E9-104D6BC192CE}" sibTransId="{0CBBDECB-5639-F847-9B65-E6FD33C6CD36}"/>
    <dgm:cxn modelId="{A2B02D97-8214-6645-9F2A-836F3ED2A9AD}" type="presOf" srcId="{AE8A76B6-FD69-0149-AEE2-48EE7A77C630}" destId="{D55D87CA-4215-A047-8B3A-E9C74A5C51C9}" srcOrd="0" destOrd="1" presId="urn:microsoft.com/office/officeart/2005/8/layout/chevron2"/>
    <dgm:cxn modelId="{835DABA3-A917-1A44-833E-335F9972D67A}" type="presOf" srcId="{9C07D893-925C-2846-80E9-BD4118D3F394}" destId="{1696A909-8225-EB4F-A551-0AF9A3B76D67}" srcOrd="0" destOrd="0" presId="urn:microsoft.com/office/officeart/2005/8/layout/chevron2"/>
    <dgm:cxn modelId="{663F3DBE-BAD5-4B43-BFE8-CFC985CA15F7}" srcId="{742FB740-3621-E24C-8AEC-DE1E542BB16F}" destId="{A94B1FBA-BBBF-714F-80FB-C1821DDE7111}" srcOrd="0" destOrd="0" parTransId="{12728CC7-053B-8B44-9FB4-5F9C88D86A03}" sibTransId="{6A06F4F2-40A4-EA41-AD38-9EB8A91B8EF6}"/>
    <dgm:cxn modelId="{62F9ACC6-D225-B049-A215-522AC63231FD}" srcId="{742FB740-3621-E24C-8AEC-DE1E542BB16F}" destId="{A2137D6B-E911-604E-8986-E70863D7BCD3}" srcOrd="2" destOrd="0" parTransId="{F9F5F3F3-62BD-8C4F-BD26-A18DA9443C55}" sibTransId="{32D6343C-C915-0D4F-9715-8B37265BC697}"/>
    <dgm:cxn modelId="{5DF737DF-5DE5-8E4E-B7CE-C54F14339237}" type="presOf" srcId="{A94B1FBA-BBBF-714F-80FB-C1821DDE7111}" destId="{D55D87CA-4215-A047-8B3A-E9C74A5C51C9}" srcOrd="0" destOrd="0" presId="urn:microsoft.com/office/officeart/2005/8/layout/chevron2"/>
    <dgm:cxn modelId="{1A5885EA-CDE8-B64F-962F-711C63447F6B}" srcId="{BCC8C123-13D1-0042-8545-13205B6E2739}" destId="{11C083AD-0920-B640-8870-D87F21677F82}" srcOrd="0" destOrd="0" parTransId="{135B8961-99DB-7840-AE7C-05A996D13B06}" sibTransId="{3BA5545F-F992-EE45-A2B7-B9940FEB9EFE}"/>
    <dgm:cxn modelId="{13E832EE-99B9-2F46-BA65-7920329A8987}" srcId="{9C07D893-925C-2846-80E9-BD4118D3F394}" destId="{BCC8C123-13D1-0042-8545-13205B6E2739}" srcOrd="0" destOrd="0" parTransId="{A297F5FB-4C00-364F-B9BE-431972CFF47C}" sibTransId="{328784CC-DAC5-B74C-9176-E4D863C5AC59}"/>
    <dgm:cxn modelId="{951892F0-3D57-B046-923B-9114EE3D9ECC}" srcId="{9C07D893-925C-2846-80E9-BD4118D3F394}" destId="{704A57F4-8F3A-F141-B189-2796DD0905A3}" srcOrd="1" destOrd="0" parTransId="{C119F687-2901-3943-966C-047F31454C13}" sibTransId="{2A2995F4-28C2-2848-B142-D5DCB95B176F}"/>
    <dgm:cxn modelId="{86412AFA-90B6-D14D-987F-EF9DC7B7738F}" type="presOf" srcId="{11C083AD-0920-B640-8870-D87F21677F82}" destId="{83454118-506B-024E-9643-1F85D01D7A81}" srcOrd="0" destOrd="0" presId="urn:microsoft.com/office/officeart/2005/8/layout/chevron2"/>
    <dgm:cxn modelId="{B7AE11FE-3DEE-7149-8E00-EC20BD586317}" type="presParOf" srcId="{1696A909-8225-EB4F-A551-0AF9A3B76D67}" destId="{2C756A64-CB6A-7648-9D08-AD57AACBCE74}" srcOrd="0" destOrd="0" presId="urn:microsoft.com/office/officeart/2005/8/layout/chevron2"/>
    <dgm:cxn modelId="{DC05D8DC-8390-8C45-BADA-B8414D1F3330}" type="presParOf" srcId="{2C756A64-CB6A-7648-9D08-AD57AACBCE74}" destId="{C0F18897-0638-3743-824F-1EC9E4387E21}" srcOrd="0" destOrd="0" presId="urn:microsoft.com/office/officeart/2005/8/layout/chevron2"/>
    <dgm:cxn modelId="{343BC0F9-FFD8-DE41-A67B-BE64D9E5EC40}" type="presParOf" srcId="{2C756A64-CB6A-7648-9D08-AD57AACBCE74}" destId="{83454118-506B-024E-9643-1F85D01D7A81}" srcOrd="1" destOrd="0" presId="urn:microsoft.com/office/officeart/2005/8/layout/chevron2"/>
    <dgm:cxn modelId="{FD23ADBA-1B27-4A40-9829-20254D599E1B}" type="presParOf" srcId="{1696A909-8225-EB4F-A551-0AF9A3B76D67}" destId="{F5C8B105-5DC0-F244-BD47-A8B3A5987700}" srcOrd="1" destOrd="0" presId="urn:microsoft.com/office/officeart/2005/8/layout/chevron2"/>
    <dgm:cxn modelId="{76C35A46-9587-644F-9916-E0018D8C567E}" type="presParOf" srcId="{1696A909-8225-EB4F-A551-0AF9A3B76D67}" destId="{54BC8666-5CCD-4B4F-9FBC-4B629BF33707}" srcOrd="2" destOrd="0" presId="urn:microsoft.com/office/officeart/2005/8/layout/chevron2"/>
    <dgm:cxn modelId="{1B66C183-654C-C24D-BAF3-3327D0F63D73}" type="presParOf" srcId="{54BC8666-5CCD-4B4F-9FBC-4B629BF33707}" destId="{5A9E8459-A0C9-8044-9B6D-1389C86D6F41}" srcOrd="0" destOrd="0" presId="urn:microsoft.com/office/officeart/2005/8/layout/chevron2"/>
    <dgm:cxn modelId="{A4924FD1-0735-1544-BAA1-23857F24D6DF}" type="presParOf" srcId="{54BC8666-5CCD-4B4F-9FBC-4B629BF33707}" destId="{0B4EBC4A-D288-D447-98D9-F8B50C332CFC}" srcOrd="1" destOrd="0" presId="urn:microsoft.com/office/officeart/2005/8/layout/chevron2"/>
    <dgm:cxn modelId="{2280ADA4-7E5F-164C-BA69-B41CAFD99A3C}" type="presParOf" srcId="{1696A909-8225-EB4F-A551-0AF9A3B76D67}" destId="{B16F3B0D-79DC-4847-B711-7A280868642E}" srcOrd="3" destOrd="0" presId="urn:microsoft.com/office/officeart/2005/8/layout/chevron2"/>
    <dgm:cxn modelId="{76D06F51-BBB4-4047-B0B1-478A2D512C91}" type="presParOf" srcId="{1696A909-8225-EB4F-A551-0AF9A3B76D67}" destId="{355A6DA7-7DCF-E14D-BA7F-5FAEBE59A06C}" srcOrd="4" destOrd="0" presId="urn:microsoft.com/office/officeart/2005/8/layout/chevron2"/>
    <dgm:cxn modelId="{EA746D94-1F07-174F-823C-74573675D04D}" type="presParOf" srcId="{355A6DA7-7DCF-E14D-BA7F-5FAEBE59A06C}" destId="{3200F30C-65EC-E34C-8DA9-D729F550FDA9}" srcOrd="0" destOrd="0" presId="urn:microsoft.com/office/officeart/2005/8/layout/chevron2"/>
    <dgm:cxn modelId="{5E420338-3CEC-E543-B810-06F3F0436F2C}" type="presParOf" srcId="{355A6DA7-7DCF-E14D-BA7F-5FAEBE59A06C}" destId="{D55D87CA-4215-A047-8B3A-E9C74A5C51C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F18897-0638-3743-824F-1EC9E4387E21}">
      <dsp:nvSpPr>
        <dsp:cNvPr id="0" name=""/>
        <dsp:cNvSpPr/>
      </dsp:nvSpPr>
      <dsp:spPr>
        <a:xfrm rot="5400000">
          <a:off x="-236795" y="238852"/>
          <a:ext cx="1578634" cy="1105044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200" b="1" kern="1200" dirty="0"/>
            <a:t>Data Sources</a:t>
          </a:r>
          <a:endParaRPr lang="en-US" sz="1200" kern="1200" dirty="0"/>
        </a:p>
      </dsp:txBody>
      <dsp:txXfrm rot="-5400000">
        <a:off x="0" y="554579"/>
        <a:ext cx="1105044" cy="473590"/>
      </dsp:txXfrm>
    </dsp:sp>
    <dsp:sp modelId="{83454118-506B-024E-9643-1F85D01D7A81}">
      <dsp:nvSpPr>
        <dsp:cNvPr id="0" name=""/>
        <dsp:cNvSpPr/>
      </dsp:nvSpPr>
      <dsp:spPr>
        <a:xfrm rot="5400000">
          <a:off x="5297265" y="-4190163"/>
          <a:ext cx="1026112" cy="94105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D" sz="2000" kern="1200" dirty="0">
              <a:latin typeface=""/>
            </a:rPr>
            <a:t>UNCTAD bilateral transport cost and trade + Country Panel data (GDP, population, Distance) + Product Supply-demand / FAO food balance (Calorific needs + Production) + Transport Related (Freight Rate and LBSCI) </a:t>
          </a:r>
          <a:endParaRPr lang="en-US" sz="2000" kern="1200" dirty="0">
            <a:latin typeface=""/>
          </a:endParaRPr>
        </a:p>
      </dsp:txBody>
      <dsp:txXfrm rot="-5400000">
        <a:off x="1105044" y="52149"/>
        <a:ext cx="9360464" cy="925930"/>
      </dsp:txXfrm>
    </dsp:sp>
    <dsp:sp modelId="{5A9E8459-A0C9-8044-9B6D-1389C86D6F41}">
      <dsp:nvSpPr>
        <dsp:cNvPr id="0" name=""/>
        <dsp:cNvSpPr/>
      </dsp:nvSpPr>
      <dsp:spPr>
        <a:xfrm rot="5400000">
          <a:off x="-236795" y="1623146"/>
          <a:ext cx="1578634" cy="1105044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 Preparation</a:t>
          </a:r>
        </a:p>
      </dsp:txBody>
      <dsp:txXfrm rot="-5400000">
        <a:off x="0" y="1938873"/>
        <a:ext cx="1105044" cy="473590"/>
      </dsp:txXfrm>
    </dsp:sp>
    <dsp:sp modelId="{0B4EBC4A-D288-D447-98D9-F8B50C332CFC}">
      <dsp:nvSpPr>
        <dsp:cNvPr id="0" name=""/>
        <dsp:cNvSpPr/>
      </dsp:nvSpPr>
      <dsp:spPr>
        <a:xfrm rot="5400000">
          <a:off x="5297265" y="-2805869"/>
          <a:ext cx="1026112" cy="94105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"/>
            </a:rPr>
            <a:t>Combine Data Product x Origin Country x Destination Country, ensure most of the observed data have panel data of Country economies, Product Supply-Demand, and Transport proxies.</a:t>
          </a:r>
        </a:p>
      </dsp:txBody>
      <dsp:txXfrm rot="-5400000">
        <a:off x="1105044" y="1436443"/>
        <a:ext cx="9360464" cy="925930"/>
      </dsp:txXfrm>
    </dsp:sp>
    <dsp:sp modelId="{3200F30C-65EC-E34C-8DA9-D729F550FDA9}">
      <dsp:nvSpPr>
        <dsp:cNvPr id="0" name=""/>
        <dsp:cNvSpPr/>
      </dsp:nvSpPr>
      <dsp:spPr>
        <a:xfrm rot="5400000">
          <a:off x="-236795" y="3007440"/>
          <a:ext cx="1578634" cy="1105044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Segmentation</a:t>
          </a:r>
        </a:p>
      </dsp:txBody>
      <dsp:txXfrm rot="-5400000">
        <a:off x="0" y="3323167"/>
        <a:ext cx="1105044" cy="473590"/>
      </dsp:txXfrm>
    </dsp:sp>
    <dsp:sp modelId="{D55D87CA-4215-A047-8B3A-E9C74A5C51C9}">
      <dsp:nvSpPr>
        <dsp:cNvPr id="0" name=""/>
        <dsp:cNvSpPr/>
      </dsp:nvSpPr>
      <dsp:spPr>
        <a:xfrm rot="5400000">
          <a:off x="5297265" y="-1421576"/>
          <a:ext cx="1026112" cy="94105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2000" kern="1200" dirty="0">
              <a:latin typeface=""/>
            </a:rPr>
            <a:t>Commodity: cereal focus, group based on HS header 10, consist of 8 Products</a:t>
          </a:r>
          <a:endParaRPr lang="en-US" sz="2000" kern="1200" dirty="0">
            <a:latin typeface="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D" sz="2000" kern="1200" dirty="0">
              <a:latin typeface=""/>
            </a:rPr>
            <a:t>Country: import dependency &amp; maritime reliance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D" sz="2000" kern="1200" dirty="0">
              <a:latin typeface=""/>
            </a:rPr>
            <a:t>Corridor: concentration &amp; exposure</a:t>
          </a:r>
        </a:p>
      </dsp:txBody>
      <dsp:txXfrm rot="-5400000">
        <a:off x="1105044" y="2820736"/>
        <a:ext cx="9360464" cy="925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0AA168-B0C3-3946-9EF1-3320E1C7D588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711CAD-E83A-1542-87FA-283916BD3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187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3C4D0-E1C1-E8EF-BA3E-4BDA719F2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82929F-5D24-A7E6-4D3A-AE717C3874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06509-5168-6BB1-2DA7-16E485570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5FCE8-CAA1-0244-9A3E-D82454F37BB4}" type="datetime1">
              <a:rPr lang="en-ID" smtClean="0"/>
              <a:t>19/02/26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3FC72-3864-5CF2-FACE-4EA5B8406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5CBDF-A72A-F308-1CFA-F514FD338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978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84128-164A-EA16-E890-5D6159CD2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F238-DFB4-6AB9-4CD5-D11C21860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"/>
              </a:defRPr>
            </a:lvl1pPr>
            <a:lvl2pPr>
              <a:defRPr>
                <a:latin typeface=""/>
              </a:defRPr>
            </a:lvl2pPr>
            <a:lvl3pPr>
              <a:defRPr>
                <a:latin typeface=""/>
              </a:defRPr>
            </a:lvl3pPr>
            <a:lvl4pPr>
              <a:defRPr>
                <a:latin typeface=""/>
              </a:defRPr>
            </a:lvl4pPr>
            <a:lvl5pPr>
              <a:defRPr>
                <a:latin typeface="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8F2BA-C55B-CA34-0447-E6D561456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BCBF-C3E2-4545-8633-2C89FC2F2D6B}" type="datetime1">
              <a:rPr lang="en-ID" smtClean="0"/>
              <a:t>19/02/26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DC93A-DA8F-CAF0-92D7-27DA895D6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C5919-F37C-0A4D-3237-78894CA68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445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88EF-BD78-B9B8-C7DC-93818226C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7E1F1-569A-2E56-EFF4-F3FA978FA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0508E-08DB-B4E7-9C47-39AED9844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748E7-056C-954D-A876-6B7F240A81CD}" type="datetime1">
              <a:rPr lang="en-ID" smtClean="0"/>
              <a:t>19/02/26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EAAEC-DE41-70F3-C3A8-92B1CA3B8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91AE0-4137-FCE9-EB96-3E5CA1352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AD289-C45B-6D9E-40A7-E0908034E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B953A-B83D-263F-6DE6-9D0B83AE4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"/>
              </a:defRPr>
            </a:lvl1pPr>
            <a:lvl2pPr>
              <a:defRPr>
                <a:latin typeface=""/>
              </a:defRPr>
            </a:lvl2pPr>
            <a:lvl3pPr>
              <a:defRPr>
                <a:latin typeface=""/>
              </a:defRPr>
            </a:lvl3pPr>
            <a:lvl4pPr>
              <a:defRPr>
                <a:latin typeface=""/>
              </a:defRPr>
            </a:lvl4pPr>
            <a:lvl5pPr>
              <a:defRPr>
                <a:latin typeface="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93893-B8F5-E6B5-36EF-1D30EB102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"/>
              </a:defRPr>
            </a:lvl1pPr>
            <a:lvl2pPr>
              <a:defRPr>
                <a:latin typeface=""/>
              </a:defRPr>
            </a:lvl2pPr>
            <a:lvl3pPr>
              <a:defRPr>
                <a:latin typeface=""/>
              </a:defRPr>
            </a:lvl3pPr>
            <a:lvl4pPr>
              <a:defRPr>
                <a:latin typeface=""/>
              </a:defRPr>
            </a:lvl4pPr>
            <a:lvl5pPr>
              <a:defRPr>
                <a:latin typeface="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DC887-9FF0-ADD8-8A14-7322D4520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D91D7-38C0-A449-9BE8-499270DE9149}" type="datetime1">
              <a:rPr lang="en-ID" smtClean="0"/>
              <a:t>19/02/26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BECA5-92CA-7B8A-3693-18112EEF2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DF213-C112-9C25-431F-7BF5A7922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522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622E9-3FCC-2D5F-4CCD-0C8178A51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07FAF-D199-4253-9015-FCC3EA28A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8D1AB-22D3-F290-0B85-2C79A8C14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"/>
              </a:defRPr>
            </a:lvl1pPr>
            <a:lvl2pPr>
              <a:defRPr>
                <a:latin typeface=""/>
              </a:defRPr>
            </a:lvl2pPr>
            <a:lvl3pPr>
              <a:defRPr>
                <a:latin typeface=""/>
              </a:defRPr>
            </a:lvl3pPr>
            <a:lvl4pPr>
              <a:defRPr>
                <a:latin typeface=""/>
              </a:defRPr>
            </a:lvl4pPr>
            <a:lvl5pPr>
              <a:defRPr>
                <a:latin typeface="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E2BF58-B32C-17C9-FDBC-A25BEE433C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7D00E7-814C-AE7D-6214-655634253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"/>
              </a:defRPr>
            </a:lvl1pPr>
            <a:lvl2pPr>
              <a:defRPr>
                <a:latin typeface=""/>
              </a:defRPr>
            </a:lvl2pPr>
            <a:lvl3pPr>
              <a:defRPr>
                <a:latin typeface=""/>
              </a:defRPr>
            </a:lvl3pPr>
            <a:lvl4pPr>
              <a:defRPr>
                <a:latin typeface=""/>
              </a:defRPr>
            </a:lvl4pPr>
            <a:lvl5pPr>
              <a:defRPr>
                <a:latin typeface="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5F242B-7F1E-8D32-A4EF-4D8162989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8BCC-AA5C-E34A-BD7E-1359593EA9D4}" type="datetime1">
              <a:rPr lang="en-ID" smtClean="0"/>
              <a:t>19/02/26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00B74-ADA9-72D7-3E3E-0A8DCB45B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B6CD34-89EE-D8F9-6597-31F78BD67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65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B7B2D-D332-6F57-8972-84AF1F5D6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32921-0A07-B86E-F448-2E403C8A8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38B4-9D0C-4D47-B681-7CCB392D3737}" type="datetime1">
              <a:rPr lang="en-ID" smtClean="0"/>
              <a:t>19/02/26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17DD-ADEA-9866-15F4-8FD77CEB3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4385E-5302-72A1-BF3E-50AD9D40E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50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FE0B7-9B31-B92E-CD97-4FC8DC06B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D32FB-91D7-1742-B47D-1C8966C4E52B}" type="datetime1">
              <a:rPr lang="en-ID" smtClean="0"/>
              <a:t>19/02/26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B81A0-A2D2-EC39-9AD2-B9624269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3F0B7-58E0-2184-A876-9BC67B54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78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F863D-7FD7-EB5D-5BAB-53C6E027D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05B66-64A6-98CB-3E69-3C7F4FD01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"/>
              </a:defRPr>
            </a:lvl1pPr>
            <a:lvl2pPr>
              <a:defRPr sz="2800">
                <a:latin typeface=""/>
              </a:defRPr>
            </a:lvl2pPr>
            <a:lvl3pPr>
              <a:defRPr sz="2400">
                <a:latin typeface=""/>
              </a:defRPr>
            </a:lvl3pPr>
            <a:lvl4pPr>
              <a:defRPr sz="2000">
                <a:latin typeface=""/>
              </a:defRPr>
            </a:lvl4pPr>
            <a:lvl5pPr>
              <a:defRPr sz="2000">
                <a:latin typeface="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CE143-F973-DCB1-0519-97DF76B4D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DD9EE-6475-079C-E2B6-FB97974DD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F0DAD-305A-7943-844F-CA175794D845}" type="datetime1">
              <a:rPr lang="en-ID" smtClean="0"/>
              <a:t>19/02/26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7701C-C53B-A642-A07B-47A0E211A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D4B3C-A75D-23F3-2049-C993F0268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195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6AFD1-8967-A325-A7DE-8A3EED6E0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D97CE4-AA09-EF6E-0180-6190C5F105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D25D3D-13B2-E962-1F7A-7854B135C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64576-76C7-915D-5F3F-2C8A94EAB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53F63-F2EA-1246-AB41-3D3276B50AAE}" type="datetime1">
              <a:rPr lang="en-ID" smtClean="0"/>
              <a:t>19/02/26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4E079-C863-CAF1-E76F-8C623DB10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CE56D-6828-E4CA-EE85-E830B718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882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A84F4-C416-2DDA-9327-32CBEC6A8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E676A-4CEE-2A61-34AD-1AB5B9989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7D8CE-010E-CA60-2793-A7963E418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B1D18-B761-984F-A7A2-28976D04C44B}" type="datetime1">
              <a:rPr lang="en-ID" smtClean="0"/>
              <a:t>19/02/26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07B7D-30C9-073C-ABF8-C41CED9F3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9BFAF-16D7-18A5-2E9E-685A2136E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832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C19914-A37C-D9B0-2351-1267816E4F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82428-AEDF-93FB-8B5C-77727DBCB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6EFC3-D986-1BAC-4CAA-D9147E867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613AC-9C03-344C-8E05-32817E991235}" type="datetime1">
              <a:rPr lang="en-ID" smtClean="0"/>
              <a:t>19/02/26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5D2A2-E789-CB6D-8D0C-6FB63D138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19CFF-1C68-CF0A-B55A-A2ADB0FD4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465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4EE16A-4174-DC2F-DF5D-5A03299CD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7DB51-1B08-B980-BB91-D96ACF587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468AE-4C5A-C582-2E9D-92A2F568C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918623-B725-9340-9A8A-3B397BBA70EC}" type="datetime1">
              <a:rPr lang="en-ID" smtClean="0"/>
              <a:t>19/02/26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4E875-8D21-EF98-BB90-32E5C4EE98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Master Thesis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2CEF4-8736-F3DB-0A6B-FDE5F7BE9F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0C13A9-A72D-424B-BC9C-5FF1B9B33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700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8B84D-67D4-AB54-3272-D7A9AD8B9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511" y="1423090"/>
            <a:ext cx="11604978" cy="1832872"/>
          </a:xfrm>
          <a:noFill/>
        </p:spPr>
        <p:txBody>
          <a:bodyPr>
            <a:normAutofit/>
          </a:bodyPr>
          <a:lstStyle/>
          <a:p>
            <a:r>
              <a:rPr lang="en-GB" sz="4200" dirty="0"/>
              <a:t>Segmentation and Forecasting of Maritime Cereal Trade for Food Security: A Bilateral Gravity–Machine Learning Framework</a:t>
            </a:r>
            <a:endParaRPr lang="en-ID" sz="4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D52770-D2C9-FDC4-BF6A-702D966022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Presented by</a:t>
            </a:r>
          </a:p>
          <a:p>
            <a:r>
              <a:rPr lang="en-US" dirty="0">
                <a:solidFill>
                  <a:schemeClr val="bg1"/>
                </a:solidFill>
              </a:rPr>
              <a:t>Bima surya WICAKSANA</a:t>
            </a:r>
          </a:p>
        </p:txBody>
      </p:sp>
    </p:spTree>
    <p:extLst>
      <p:ext uri="{BB962C8B-B14F-4D97-AF65-F5344CB8AC3E}">
        <p14:creationId xmlns:p14="http://schemas.microsoft.com/office/powerpoint/2010/main" val="3340458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87D72-7368-F71B-844B-96B0ED44D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Why This Study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312A0-A22F-2043-C3D4-47E57DF0E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870" y="1630707"/>
            <a:ext cx="4981161" cy="4306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Motivation</a:t>
            </a:r>
          </a:p>
          <a:p>
            <a:r>
              <a:rPr lang="en-US" sz="2300" dirty="0">
                <a:solidFill>
                  <a:schemeClr val="tx2"/>
                </a:solidFill>
              </a:rPr>
              <a:t>80% of Agri-food &amp; Cereal Trade carried out by sea.</a:t>
            </a:r>
          </a:p>
          <a:p>
            <a:r>
              <a:rPr lang="en-US" sz="2300" dirty="0">
                <a:solidFill>
                  <a:schemeClr val="tx2"/>
                </a:solidFill>
              </a:rPr>
              <a:t>Cereals and staples are the backbones of global food security.</a:t>
            </a:r>
          </a:p>
          <a:p>
            <a:r>
              <a:rPr lang="en-US" sz="2300" dirty="0">
                <a:solidFill>
                  <a:schemeClr val="tx2"/>
                </a:solidFill>
              </a:rPr>
              <a:t>Cereals Import dependency on Sea.</a:t>
            </a:r>
          </a:p>
          <a:p>
            <a:r>
              <a:rPr lang="en-US" sz="2300" dirty="0">
                <a:solidFill>
                  <a:schemeClr val="tx2"/>
                </a:solidFill>
              </a:rPr>
              <a:t>Freight Rate and other cost volatility on Sea Transport/trade cost.</a:t>
            </a:r>
          </a:p>
          <a:p>
            <a:endParaRPr lang="en-US" sz="2300" dirty="0">
              <a:solidFill>
                <a:schemeClr val="tx2"/>
              </a:solidFill>
            </a:endParaRPr>
          </a:p>
          <a:p>
            <a:endParaRPr lang="en-US" sz="2300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2765B5-A4A2-4A38-700B-21201B49B358}"/>
              </a:ext>
            </a:extLst>
          </p:cNvPr>
          <p:cNvSpPr txBox="1">
            <a:spLocks/>
          </p:cNvSpPr>
          <p:nvPr/>
        </p:nvSpPr>
        <p:spPr>
          <a:xfrm>
            <a:off x="5819362" y="1630707"/>
            <a:ext cx="6266622" cy="44122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>
                <a:solidFill>
                  <a:schemeClr val="accent1"/>
                </a:solidFill>
              </a:rPr>
              <a:t>Research Gap</a:t>
            </a:r>
          </a:p>
          <a:p>
            <a:pPr marL="0" indent="0">
              <a:buNone/>
            </a:pPr>
            <a:r>
              <a:rPr lang="en-US" sz="2300" b="1" dirty="0"/>
              <a:t>On Maritime Forecasting Literature</a:t>
            </a:r>
            <a:r>
              <a:rPr lang="en-US" sz="2300" b="1" dirty="0">
                <a:solidFill>
                  <a:schemeClr val="tx2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300" dirty="0">
                <a:solidFill>
                  <a:schemeClr val="tx2"/>
                </a:solidFill>
              </a:rPr>
              <a:t>➡️ Aggregated Output, and Linear Input.</a:t>
            </a:r>
          </a:p>
          <a:p>
            <a:pPr marL="0" indent="0">
              <a:buNone/>
            </a:pPr>
            <a:r>
              <a:rPr lang="en-US" sz="2300" b="1" dirty="0"/>
              <a:t>On Food security/ Trade Literature</a:t>
            </a:r>
            <a:r>
              <a:rPr lang="en-US" sz="2300" b="1" dirty="0">
                <a:solidFill>
                  <a:schemeClr val="tx2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300" dirty="0">
                <a:solidFill>
                  <a:schemeClr val="tx2"/>
                </a:solidFill>
              </a:rPr>
              <a:t>➡️ </a:t>
            </a:r>
            <a:r>
              <a:rPr lang="en-ID" sz="2400" dirty="0">
                <a:solidFill>
                  <a:schemeClr val="tx2"/>
                </a:solidFill>
              </a:rPr>
              <a:t>Focuses on vulnerability and dependency indicators, and few of general trade modelling.</a:t>
            </a:r>
          </a:p>
          <a:p>
            <a:pPr marL="0" indent="0">
              <a:buNone/>
            </a:pPr>
            <a:r>
              <a:rPr lang="en-US" sz="2300" b="1" dirty="0"/>
              <a:t>Missing: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➡️ </a:t>
            </a:r>
            <a:r>
              <a:rPr lang="en-ID" sz="2400" dirty="0">
                <a:solidFill>
                  <a:schemeClr val="tx2"/>
                </a:solidFill>
              </a:rPr>
              <a:t>Bilateral forecasting of maritime trade and transport with modelling variables related to food commodities.</a:t>
            </a:r>
          </a:p>
          <a:p>
            <a:pPr marL="0" indent="0">
              <a:buNone/>
            </a:pPr>
            <a:endParaRPr lang="en-US" sz="23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300" dirty="0">
              <a:solidFill>
                <a:schemeClr val="tx2"/>
              </a:solidFill>
            </a:endParaRPr>
          </a:p>
          <a:p>
            <a:endParaRPr lang="en-US" sz="2300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911AB-B35D-3F84-0C27-7E7A763F6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4519D-CAA6-9EDF-5CFD-A67BBF4A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6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20125D-9744-6147-95CE-0B455DDF4DB4}"/>
              </a:ext>
            </a:extLst>
          </p:cNvPr>
          <p:cNvSpPr/>
          <p:nvPr/>
        </p:nvSpPr>
        <p:spPr>
          <a:xfrm>
            <a:off x="838200" y="1690688"/>
            <a:ext cx="10359887" cy="132556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C2F953-D9B7-A5B4-B875-802E8982E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 and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F3466-D201-0CE1-6E5D-4B3E1B6A2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6074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2600" dirty="0">
                <a:solidFill>
                  <a:schemeClr val="bg1"/>
                </a:solidFill>
              </a:rPr>
              <a:t>How can bilateral maritime trade volumes and transport costs for essential cereal commodities be structurally modelled and forecasted to assess exposure risks in seaborne food trade?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AB1A0E-1D4D-922D-281C-56BEEE994DD2}"/>
              </a:ext>
            </a:extLst>
          </p:cNvPr>
          <p:cNvSpPr txBox="1">
            <a:spLocks/>
          </p:cNvSpPr>
          <p:nvPr/>
        </p:nvSpPr>
        <p:spPr>
          <a:xfrm>
            <a:off x="4098234" y="3746363"/>
            <a:ext cx="3995531" cy="43062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Empirical</a:t>
            </a:r>
            <a:endParaRPr lang="en-US" b="1" dirty="0">
              <a:solidFill>
                <a:schemeClr val="accent1"/>
              </a:solidFill>
            </a:endParaRPr>
          </a:p>
          <a:p>
            <a:r>
              <a:rPr lang="en-ID" sz="2100" dirty="0">
                <a:solidFill>
                  <a:schemeClr val="tx2"/>
                </a:solidFill>
              </a:rPr>
              <a:t>Identification of connectivity and cost elasticities in cereal trade</a:t>
            </a:r>
          </a:p>
          <a:p>
            <a:r>
              <a:rPr lang="en-US" sz="2100" dirty="0">
                <a:solidFill>
                  <a:schemeClr val="tx2"/>
                </a:solidFill>
              </a:rPr>
              <a:t>Forecast projections for 2025–2030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0687757-9B48-4FFB-42E6-43E579DF6523}"/>
              </a:ext>
            </a:extLst>
          </p:cNvPr>
          <p:cNvSpPr txBox="1">
            <a:spLocks/>
          </p:cNvSpPr>
          <p:nvPr/>
        </p:nvSpPr>
        <p:spPr>
          <a:xfrm>
            <a:off x="19875" y="3746363"/>
            <a:ext cx="3902765" cy="43062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Methodological</a:t>
            </a:r>
            <a:endParaRPr lang="en-US" b="1" dirty="0">
              <a:solidFill>
                <a:schemeClr val="accent1"/>
              </a:solidFill>
            </a:endParaRPr>
          </a:p>
          <a:p>
            <a:r>
              <a:rPr lang="en-ID" sz="2100" dirty="0">
                <a:solidFill>
                  <a:schemeClr val="tx2"/>
                </a:solidFill>
              </a:rPr>
              <a:t>A Bilateral</a:t>
            </a:r>
            <a:r>
              <a:rPr lang="en-US" sz="2100" dirty="0">
                <a:solidFill>
                  <a:schemeClr val="tx2"/>
                </a:solidFill>
              </a:rPr>
              <a:t> </a:t>
            </a:r>
            <a:r>
              <a:rPr lang="en-ID" sz="2100" dirty="0">
                <a:solidFill>
                  <a:schemeClr val="tx2"/>
                </a:solidFill>
              </a:rPr>
              <a:t>gravity-inspired food security and maritime transport model</a:t>
            </a:r>
          </a:p>
          <a:p>
            <a:r>
              <a:rPr lang="en-ID" sz="2100" dirty="0">
                <a:solidFill>
                  <a:schemeClr val="tx2"/>
                </a:solidFill>
              </a:rPr>
              <a:t>Standard Econometric model and Machine learning model</a:t>
            </a:r>
            <a:endParaRPr lang="en-US" sz="2100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F1A1A44-D30F-8068-9A00-0D32DAC50E58}"/>
              </a:ext>
            </a:extLst>
          </p:cNvPr>
          <p:cNvSpPr txBox="1">
            <a:spLocks/>
          </p:cNvSpPr>
          <p:nvPr/>
        </p:nvSpPr>
        <p:spPr>
          <a:xfrm>
            <a:off x="8032653" y="3746363"/>
            <a:ext cx="4139472" cy="43062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Analytical</a:t>
            </a:r>
          </a:p>
          <a:p>
            <a:r>
              <a:rPr lang="en-ID" sz="2100" dirty="0">
                <a:solidFill>
                  <a:schemeClr val="tx2"/>
                </a:solidFill>
              </a:rPr>
              <a:t>Correlation of Food demand-supply as proxy for trade and maritime transport</a:t>
            </a:r>
          </a:p>
          <a:p>
            <a:r>
              <a:rPr lang="en-US" sz="2100" dirty="0">
                <a:solidFill>
                  <a:schemeClr val="tx2"/>
                </a:solidFill>
              </a:rPr>
              <a:t>Assessment of high-dependency trade corridors exposure to maritime cost volatility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0A00E9-857B-D7D4-35EE-E0C6612B5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B932A8-9899-C171-42DF-3782742E6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73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22705-34D5-AFFE-3630-B598FAEE4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39D31-F516-710C-F6A0-22FB831D6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Segmentation Methodology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0D59E46-7450-39E2-7FCF-A4D870A5CA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615244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0B7AF-9DE7-1574-DE37-612E622F9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66B3D-B445-ADFB-F077-9BEE8DC2C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3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C1A4E-18E2-F893-629D-D4C6740BF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321F4-7307-AD77-3D0F-137E19B5C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Forecast and Projection Methodology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46267D-493B-41BC-B69A-34F55EFDE41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2204" y="1986110"/>
            <a:ext cx="7610622" cy="4217744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503CC-73E7-B01A-18BA-273E29C38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B24EA-8CF4-872C-44FC-83297903F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344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0E7B5-005E-BA02-C085-30652D8BA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77135" cy="1325563"/>
          </a:xfrm>
        </p:spPr>
        <p:txBody>
          <a:bodyPr/>
          <a:lstStyle/>
          <a:p>
            <a:r>
              <a:rPr lang="en-US" dirty="0"/>
              <a:t>Important Commodities to Calorific Need</a:t>
            </a:r>
          </a:p>
        </p:txBody>
      </p:sp>
      <p:pic>
        <p:nvPicPr>
          <p:cNvPr id="4" name="Content Placeholder 3" descr="A chart of different colored squares&#10;&#10;AI-generated content may be incorrect.">
            <a:extLst>
              <a:ext uri="{FF2B5EF4-FFF2-40B4-BE49-F238E27FC236}">
                <a16:creationId xmlns:a16="http://schemas.microsoft.com/office/drawing/2014/main" id="{10EEF27A-856C-B50F-D0CA-BB52D3F2E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17259"/>
            <a:ext cx="4157739" cy="2676824"/>
          </a:xfrm>
          <a:prstGeom prst="rect">
            <a:avLst/>
          </a:prstGeom>
        </p:spPr>
      </p:pic>
      <p:pic>
        <p:nvPicPr>
          <p:cNvPr id="5" name="Picture 4" descr="A chart of different colored squares&#10;&#10;AI-generated content may be incorrect.">
            <a:extLst>
              <a:ext uri="{FF2B5EF4-FFF2-40B4-BE49-F238E27FC236}">
                <a16:creationId xmlns:a16="http://schemas.microsoft.com/office/drawing/2014/main" id="{49AFA7E9-05A3-28E3-7002-DF871A776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5" y="4220654"/>
            <a:ext cx="3719084" cy="2489130"/>
          </a:xfrm>
          <a:prstGeom prst="rect">
            <a:avLst/>
          </a:prstGeom>
        </p:spPr>
      </p:pic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1BF8D66D-5F99-15BE-A99F-F64A1B6E4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574" y="1718006"/>
            <a:ext cx="4504251" cy="390892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173D791-B8D6-C363-7741-D80AE55A3015}"/>
              </a:ext>
            </a:extLst>
          </p:cNvPr>
          <p:cNvSpPr txBox="1">
            <a:spLocks/>
          </p:cNvSpPr>
          <p:nvPr/>
        </p:nvSpPr>
        <p:spPr>
          <a:xfrm>
            <a:off x="4211574" y="5830093"/>
            <a:ext cx="5660546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D" sz="2600" dirty="0"/>
              <a:t>This justify more Cereals groups to be focussed in this study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7367AF-90DF-5432-73B5-E80637A17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5F2292-806D-D284-8364-DD8B2040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64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AB497-9ADE-6010-D03E-39244539E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AAD78-02DD-F870-22A8-F2ECCBF2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96975" cy="1325563"/>
          </a:xfrm>
        </p:spPr>
        <p:txBody>
          <a:bodyPr/>
          <a:lstStyle/>
          <a:p>
            <a:r>
              <a:rPr lang="en-US" dirty="0"/>
              <a:t>Maritime Importance in the Cereal Trade structure</a:t>
            </a:r>
          </a:p>
        </p:txBody>
      </p:sp>
      <p:pic>
        <p:nvPicPr>
          <p:cNvPr id="8" name="Picture 7" descr="A graph of a graph of a trade&#10;&#10;AI-generated content may be incorrect.">
            <a:extLst>
              <a:ext uri="{FF2B5EF4-FFF2-40B4-BE49-F238E27FC236}">
                <a16:creationId xmlns:a16="http://schemas.microsoft.com/office/drawing/2014/main" id="{70E23B13-4DD9-61FE-FEF9-A32665398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444" y="1690688"/>
            <a:ext cx="4273131" cy="2777789"/>
          </a:xfrm>
          <a:prstGeom prst="rect">
            <a:avLst/>
          </a:prstGeom>
        </p:spPr>
      </p:pic>
      <p:pic>
        <p:nvPicPr>
          <p:cNvPr id="10" name="Picture 9" descr="A graph with colorful dots&#10;&#10;AI-generated content may be incorrect.">
            <a:extLst>
              <a:ext uri="{FF2B5EF4-FFF2-40B4-BE49-F238E27FC236}">
                <a16:creationId xmlns:a16="http://schemas.microsoft.com/office/drawing/2014/main" id="{E7F2C049-49AE-C027-4092-C21C7511F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942" y="1608785"/>
            <a:ext cx="3168163" cy="2388002"/>
          </a:xfrm>
          <a:prstGeom prst="rect">
            <a:avLst/>
          </a:prstGeom>
        </p:spPr>
      </p:pic>
      <p:pic>
        <p:nvPicPr>
          <p:cNvPr id="12" name="Picture 11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DEDFFBEE-7E39-C2AA-951E-A94A44CAD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183" y="4287377"/>
            <a:ext cx="3533922" cy="2205498"/>
          </a:xfrm>
          <a:prstGeom prst="rect">
            <a:avLst/>
          </a:prstGeom>
        </p:spPr>
      </p:pic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CBE1F8C-AFAA-F385-FC76-A9D1A828D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F5E0D19-E7D9-8725-E978-EBCD03091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308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C4104-F5BF-C956-0126-E71C173D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873AF-B840-51E2-8511-A3B9B0956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95782" cy="1325563"/>
          </a:xfrm>
        </p:spPr>
        <p:txBody>
          <a:bodyPr/>
          <a:lstStyle/>
          <a:p>
            <a:r>
              <a:rPr lang="en-US" dirty="0"/>
              <a:t>Segmentation: Country </a:t>
            </a:r>
            <a:r>
              <a:rPr lang="en-US" dirty="0" err="1"/>
              <a:t>Vulnurability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FFAEFAC-DDD2-17AC-A28E-C21D54606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870" y="1630707"/>
            <a:ext cx="4981161" cy="2026893"/>
          </a:xfrm>
        </p:spPr>
        <p:txBody>
          <a:bodyPr>
            <a:normAutofit/>
          </a:bodyPr>
          <a:lstStyle/>
          <a:p>
            <a:r>
              <a:rPr lang="en-US" sz="2300" dirty="0">
                <a:solidFill>
                  <a:schemeClr val="tx2"/>
                </a:solidFill>
              </a:rPr>
              <a:t>Indicator 1, Import Gap</a:t>
            </a:r>
          </a:p>
          <a:p>
            <a:r>
              <a:rPr lang="en-US" sz="2300" dirty="0">
                <a:solidFill>
                  <a:schemeClr val="tx2"/>
                </a:solidFill>
              </a:rPr>
              <a:t>Indicator 2, Cost Intensity (Transport cost per FOB value)</a:t>
            </a:r>
          </a:p>
          <a:p>
            <a:r>
              <a:rPr lang="en-US" sz="2300" dirty="0">
                <a:solidFill>
                  <a:schemeClr val="tx2"/>
                </a:solidFill>
              </a:rPr>
              <a:t>Clustering country to quadrant</a:t>
            </a:r>
          </a:p>
          <a:p>
            <a:endParaRPr lang="en-US" sz="23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300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5" name="Picture 4" descr="A graph with a number of text&#10;&#10;AI-generated content may be incorrect.">
            <a:extLst>
              <a:ext uri="{FF2B5EF4-FFF2-40B4-BE49-F238E27FC236}">
                <a16:creationId xmlns:a16="http://schemas.microsoft.com/office/drawing/2014/main" id="{D7262CE7-265E-5080-E1CB-FEC753389A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862" y="1479671"/>
            <a:ext cx="6874289" cy="51373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B0381F-A63A-87CB-4A17-8468ED5D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4EBA8B-19AF-5865-6CF3-A832231EB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267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5A47F-BBB1-7DC8-D4DE-38BB8682C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4947F-E906-65F5-2863-DE07F36E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06797" cy="1325563"/>
          </a:xfrm>
        </p:spPr>
        <p:txBody>
          <a:bodyPr/>
          <a:lstStyle/>
          <a:p>
            <a:r>
              <a:rPr lang="en-US" dirty="0"/>
              <a:t>Segmentation: Corridor Opportunity</a:t>
            </a:r>
          </a:p>
        </p:txBody>
      </p:sp>
      <p:pic>
        <p:nvPicPr>
          <p:cNvPr id="7" name="Picture 6" descr="A graph of a number of cereal trade volume&#10;&#10;AI-generated content may be incorrect.">
            <a:extLst>
              <a:ext uri="{FF2B5EF4-FFF2-40B4-BE49-F238E27FC236}">
                <a16:creationId xmlns:a16="http://schemas.microsoft.com/office/drawing/2014/main" id="{A2A26867-03EA-482E-9A36-44FA73672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56" y="1850063"/>
            <a:ext cx="3732563" cy="2504347"/>
          </a:xfrm>
          <a:prstGeom prst="rect">
            <a:avLst/>
          </a:prstGeom>
        </p:spPr>
      </p:pic>
      <p:pic>
        <p:nvPicPr>
          <p:cNvPr id="9" name="Picture 8" descr="A graph showing a number of dots&#10;&#10;AI-generated content may be incorrect.">
            <a:extLst>
              <a:ext uri="{FF2B5EF4-FFF2-40B4-BE49-F238E27FC236}">
                <a16:creationId xmlns:a16="http://schemas.microsoft.com/office/drawing/2014/main" id="{EAEDEB37-E29B-41B7-B381-C9EC8BE7F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211" y="4513785"/>
            <a:ext cx="4515791" cy="2185598"/>
          </a:xfrm>
          <a:prstGeom prst="rect">
            <a:avLst/>
          </a:prstGeom>
        </p:spPr>
      </p:pic>
      <p:pic>
        <p:nvPicPr>
          <p:cNvPr id="11" name="Picture 10" descr="A network of lines and dots&#10;&#10;AI-generated content may be incorrect.">
            <a:extLst>
              <a:ext uri="{FF2B5EF4-FFF2-40B4-BE49-F238E27FC236}">
                <a16:creationId xmlns:a16="http://schemas.microsoft.com/office/drawing/2014/main" id="{1857A2F0-7F65-AD9B-1D66-1B8E2ACD4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597" y="1989804"/>
            <a:ext cx="5503399" cy="430767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CF7C45D-D1B2-EF5F-E842-24CCC017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DAAD85D-28FD-6D31-7E98-14E63CB9F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900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F67EB-4DFE-F905-1F80-B6BB6B536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Transport Cost Forecast Model 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A8241A4-6AC5-727E-3032-873559323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381614"/>
              </p:ext>
            </p:extLst>
          </p:nvPr>
        </p:nvGraphicFramePr>
        <p:xfrm>
          <a:off x="1141828" y="1990340"/>
          <a:ext cx="3494649" cy="1981200"/>
        </p:xfrm>
        <a:graphic>
          <a:graphicData uri="http://schemas.openxmlformats.org/drawingml/2006/table">
            <a:tbl>
              <a:tblPr firstRow="1" firstCol="1" bandRow="1"/>
              <a:tblGrid>
                <a:gridCol w="1506415">
                  <a:extLst>
                    <a:ext uri="{9D8B030D-6E8A-4147-A177-3AD203B41FA5}">
                      <a16:colId xmlns:a16="http://schemas.microsoft.com/office/drawing/2014/main" val="1399516813"/>
                    </a:ext>
                  </a:extLst>
                </a:gridCol>
                <a:gridCol w="1101970">
                  <a:extLst>
                    <a:ext uri="{9D8B030D-6E8A-4147-A177-3AD203B41FA5}">
                      <a16:colId xmlns:a16="http://schemas.microsoft.com/office/drawing/2014/main" val="346731293"/>
                    </a:ext>
                  </a:extLst>
                </a:gridCol>
                <a:gridCol w="886264">
                  <a:extLst>
                    <a:ext uri="{9D8B030D-6E8A-4147-A177-3AD203B41FA5}">
                      <a16:colId xmlns:a16="http://schemas.microsoft.com/office/drawing/2014/main" val="2783960349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  <a:buNone/>
                      </a:pPr>
                      <a:r>
                        <a:rPr lang="en-ID" sz="1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variable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  <a:p>
                      <a:pPr algn="ctr">
                        <a:spcAft>
                          <a:spcPts val="1200"/>
                        </a:spcAft>
                        <a:buNone/>
                      </a:pPr>
                      <a:r>
                        <a:rPr lang="en-ID" sz="1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  <a:buNone/>
                      </a:pPr>
                      <a:r>
                        <a:rPr lang="en-ID" sz="1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OLS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8191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coefficient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p_value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604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ln_dist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0.147368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0.000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319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conn_ij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-0.143170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1.000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565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comp_ij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-0.143170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1.000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913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ln_gdp_o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-0.000569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0.881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358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ln_gdp_d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0.021149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0.000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92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ln_fbx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0.245669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0.000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590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bulk_share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-3.846798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0.000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267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ln_bdi_x_bulk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0.171482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NaN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770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ln_dist_x_bulk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0.069025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0.161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690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conn_x_bulk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0.307273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0.000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12341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C12D2DA-BA50-DEA1-F525-2C79D5A5C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061303"/>
              </p:ext>
            </p:extLst>
          </p:nvPr>
        </p:nvGraphicFramePr>
        <p:xfrm>
          <a:off x="5614180" y="1990340"/>
          <a:ext cx="5759549" cy="629120"/>
        </p:xfrm>
        <a:graphic>
          <a:graphicData uri="http://schemas.openxmlformats.org/drawingml/2006/table">
            <a:tbl>
              <a:tblPr firstRow="1" firstCol="1" bandRow="1"/>
              <a:tblGrid>
                <a:gridCol w="471246">
                  <a:extLst>
                    <a:ext uri="{9D8B030D-6E8A-4147-A177-3AD203B41FA5}">
                      <a16:colId xmlns:a16="http://schemas.microsoft.com/office/drawing/2014/main" val="1883236698"/>
                    </a:ext>
                  </a:extLst>
                </a:gridCol>
                <a:gridCol w="775617">
                  <a:extLst>
                    <a:ext uri="{9D8B030D-6E8A-4147-A177-3AD203B41FA5}">
                      <a16:colId xmlns:a16="http://schemas.microsoft.com/office/drawing/2014/main" val="3315979478"/>
                    </a:ext>
                  </a:extLst>
                </a:gridCol>
                <a:gridCol w="631175">
                  <a:extLst>
                    <a:ext uri="{9D8B030D-6E8A-4147-A177-3AD203B41FA5}">
                      <a16:colId xmlns:a16="http://schemas.microsoft.com/office/drawing/2014/main" val="3747798238"/>
                    </a:ext>
                  </a:extLst>
                </a:gridCol>
                <a:gridCol w="689317">
                  <a:extLst>
                    <a:ext uri="{9D8B030D-6E8A-4147-A177-3AD203B41FA5}">
                      <a16:colId xmlns:a16="http://schemas.microsoft.com/office/drawing/2014/main" val="2381780438"/>
                    </a:ext>
                  </a:extLst>
                </a:gridCol>
                <a:gridCol w="590843">
                  <a:extLst>
                    <a:ext uri="{9D8B030D-6E8A-4147-A177-3AD203B41FA5}">
                      <a16:colId xmlns:a16="http://schemas.microsoft.com/office/drawing/2014/main" val="1352058306"/>
                    </a:ext>
                  </a:extLst>
                </a:gridCol>
                <a:gridCol w="951400">
                  <a:extLst>
                    <a:ext uri="{9D8B030D-6E8A-4147-A177-3AD203B41FA5}">
                      <a16:colId xmlns:a16="http://schemas.microsoft.com/office/drawing/2014/main" val="1859010736"/>
                    </a:ext>
                  </a:extLst>
                </a:gridCol>
                <a:gridCol w="930007">
                  <a:extLst>
                    <a:ext uri="{9D8B030D-6E8A-4147-A177-3AD203B41FA5}">
                      <a16:colId xmlns:a16="http://schemas.microsoft.com/office/drawing/2014/main" val="1849562024"/>
                    </a:ext>
                  </a:extLst>
                </a:gridCol>
                <a:gridCol w="719944">
                  <a:extLst>
                    <a:ext uri="{9D8B030D-6E8A-4147-A177-3AD203B41FA5}">
                      <a16:colId xmlns:a16="http://schemas.microsoft.com/office/drawing/2014/main" val="1535950791"/>
                    </a:ext>
                  </a:extLst>
                </a:gridCol>
              </a:tblGrid>
              <a:tr h="39133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D" sz="1000">
                        <a:effectLst/>
                        <a:latin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R2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RMSE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MAPE(%)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Bias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ExtremeResiduals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ExtremeShare(%)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N_obs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468933"/>
                  </a:ext>
                </a:extLst>
              </a:tr>
              <a:tr h="2377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OLS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0.2069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0.9781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22.1876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-0.0000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8456.0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18.0726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46789.0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21768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96924C7-7A4D-1047-33EA-636447935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595836"/>
              </p:ext>
            </p:extLst>
          </p:nvPr>
        </p:nvGraphicFramePr>
        <p:xfrm>
          <a:off x="838199" y="4968875"/>
          <a:ext cx="3494649" cy="1524000"/>
        </p:xfrm>
        <a:graphic>
          <a:graphicData uri="http://schemas.openxmlformats.org/drawingml/2006/table">
            <a:tbl>
              <a:tblPr firstRow="1" firstCol="1" bandRow="1"/>
              <a:tblGrid>
                <a:gridCol w="961615">
                  <a:extLst>
                    <a:ext uri="{9D8B030D-6E8A-4147-A177-3AD203B41FA5}">
                      <a16:colId xmlns:a16="http://schemas.microsoft.com/office/drawing/2014/main" val="2540980862"/>
                    </a:ext>
                  </a:extLst>
                </a:gridCol>
                <a:gridCol w="1031977">
                  <a:extLst>
                    <a:ext uri="{9D8B030D-6E8A-4147-A177-3AD203B41FA5}">
                      <a16:colId xmlns:a16="http://schemas.microsoft.com/office/drawing/2014/main" val="2605386352"/>
                    </a:ext>
                  </a:extLst>
                </a:gridCol>
                <a:gridCol w="1501057">
                  <a:extLst>
                    <a:ext uri="{9D8B030D-6E8A-4147-A177-3AD203B41FA5}">
                      <a16:colId xmlns:a16="http://schemas.microsoft.com/office/drawing/2014/main" val="19021287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b="1" dirty="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variable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b="1" dirty="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coefficient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b="1" dirty="0" err="1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p_value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138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bulk_share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dirty="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-2.178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0.099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421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conn_ij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-0.087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0.296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362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conn_x_bulk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0.128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0.099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555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ln_bdi_x_bulk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0.092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0.074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658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ln_dist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0.219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0.006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671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ln_dist_x_bulk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0.045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0.216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006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ln_fbx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0.224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0.004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342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ln_gdp_d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0.147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0.107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5347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dirty="0" err="1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ln_gdp_o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dirty="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0.353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dirty="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0.065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06784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EBFD7F3-B051-4906-6183-5A3D897BC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850682"/>
              </p:ext>
            </p:extLst>
          </p:nvPr>
        </p:nvGraphicFramePr>
        <p:xfrm>
          <a:off x="4759571" y="4961050"/>
          <a:ext cx="6911925" cy="1524000"/>
        </p:xfrm>
        <a:graphic>
          <a:graphicData uri="http://schemas.openxmlformats.org/drawingml/2006/table">
            <a:tbl>
              <a:tblPr firstRow="1" firstCol="1" bandRow="1"/>
              <a:tblGrid>
                <a:gridCol w="961292">
                  <a:extLst>
                    <a:ext uri="{9D8B030D-6E8A-4147-A177-3AD203B41FA5}">
                      <a16:colId xmlns:a16="http://schemas.microsoft.com/office/drawing/2014/main" val="3374391159"/>
                    </a:ext>
                  </a:extLst>
                </a:gridCol>
                <a:gridCol w="787790">
                  <a:extLst>
                    <a:ext uri="{9D8B030D-6E8A-4147-A177-3AD203B41FA5}">
                      <a16:colId xmlns:a16="http://schemas.microsoft.com/office/drawing/2014/main" val="2202586249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2881412190"/>
                    </a:ext>
                  </a:extLst>
                </a:gridCol>
                <a:gridCol w="984738">
                  <a:extLst>
                    <a:ext uri="{9D8B030D-6E8A-4147-A177-3AD203B41FA5}">
                      <a16:colId xmlns:a16="http://schemas.microsoft.com/office/drawing/2014/main" val="1768421470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958785607"/>
                    </a:ext>
                  </a:extLst>
                </a:gridCol>
                <a:gridCol w="905021">
                  <a:extLst>
                    <a:ext uri="{9D8B030D-6E8A-4147-A177-3AD203B41FA5}">
                      <a16:colId xmlns:a16="http://schemas.microsoft.com/office/drawing/2014/main" val="1958131267"/>
                    </a:ext>
                  </a:extLst>
                </a:gridCol>
                <a:gridCol w="1669366">
                  <a:extLst>
                    <a:ext uri="{9D8B030D-6E8A-4147-A177-3AD203B41FA5}">
                      <a16:colId xmlns:a16="http://schemas.microsoft.com/office/drawing/2014/main" val="15562908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dirty="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commodity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R2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dirty="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RMSE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MAPE(%)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Bias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ExtremeResiduals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ExtremeShare(%)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745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1007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dirty="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0.623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1052.353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63.840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-116.059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114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5.295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103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1002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0.602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822.361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54.632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-66.246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49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3.412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337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1001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0.583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157.832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46.392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-11.931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160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2.804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09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1005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0.557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928.733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84.240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-95.000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842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7.820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152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1003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0.536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370.625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80.959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-39.410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174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3.872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89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1004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0.516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378.943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56.963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-49.744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116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3.775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643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1008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0.471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232.130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74.097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-37.840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277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5.203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52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dirty="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1006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0.428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dirty="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393.642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60.474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-34.685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390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dirty="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2.819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45454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313507B-6CA3-0AF1-A733-41064BAE4941}"/>
              </a:ext>
            </a:extLst>
          </p:cNvPr>
          <p:cNvSpPr txBox="1"/>
          <p:nvPr/>
        </p:nvSpPr>
        <p:spPr>
          <a:xfrm>
            <a:off x="838199" y="1293897"/>
            <a:ext cx="8713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Econometric Model (Ordinary Least Square Regression)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DB5923-8F17-EF6B-BBBE-988246ADD44C}"/>
              </a:ext>
            </a:extLst>
          </p:cNvPr>
          <p:cNvSpPr txBox="1"/>
          <p:nvPr/>
        </p:nvSpPr>
        <p:spPr>
          <a:xfrm>
            <a:off x="838199" y="1593549"/>
            <a:ext cx="8713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2"/>
                </a:solidFill>
              </a:rPr>
              <a:t>Pooled Configuration Model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E4E82-95CB-EA24-6D7E-0C74B97B7A1A}"/>
              </a:ext>
            </a:extLst>
          </p:cNvPr>
          <p:cNvSpPr txBox="1"/>
          <p:nvPr/>
        </p:nvSpPr>
        <p:spPr>
          <a:xfrm>
            <a:off x="838199" y="4327350"/>
            <a:ext cx="8713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2"/>
                </a:solidFill>
              </a:rPr>
              <a:t>Fixed Effect Configuration Model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F516D0A7-21C2-2720-8138-46E6314DD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53B24EDC-B7B0-268A-D5A5-01FE069AD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10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02D4B-CD9C-D7A1-6F6E-CFCE7934F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A07C9-EAEE-ADE7-6A70-986878D83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Transport Cost Forecast Model 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FE3A96-D414-32AD-D954-9473AA6BECC4}"/>
              </a:ext>
            </a:extLst>
          </p:cNvPr>
          <p:cNvSpPr txBox="1"/>
          <p:nvPr/>
        </p:nvSpPr>
        <p:spPr>
          <a:xfrm>
            <a:off x="838199" y="1293897"/>
            <a:ext cx="8713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Machine Learning Model (Artificial Neural Network)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CCE092-DBEC-216F-CD1A-85A7CE4A86A9}"/>
              </a:ext>
            </a:extLst>
          </p:cNvPr>
          <p:cNvSpPr txBox="1"/>
          <p:nvPr/>
        </p:nvSpPr>
        <p:spPr>
          <a:xfrm>
            <a:off x="838199" y="3188118"/>
            <a:ext cx="8713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2"/>
                </a:solidFill>
              </a:rPr>
              <a:t>Robustness Evaluation</a:t>
            </a:r>
          </a:p>
        </p:txBody>
      </p:sp>
      <p:pic>
        <p:nvPicPr>
          <p:cNvPr id="3" name="Picture 2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7D045D16-79F6-12D4-5C5D-083862C424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212" y="3798332"/>
            <a:ext cx="4131801" cy="2908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graph of a product value&#10;&#10;AI-generated content may be incorrect.">
            <a:extLst>
              <a:ext uri="{FF2B5EF4-FFF2-40B4-BE49-F238E27FC236}">
                <a16:creationId xmlns:a16="http://schemas.microsoft.com/office/drawing/2014/main" id="{FE4C6B2B-BD1D-BE9A-3013-A0F3ECE30D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4013" y="3668852"/>
            <a:ext cx="3553613" cy="20848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E4F26D-106C-63E1-0AD3-451D9C987F9F}"/>
              </a:ext>
            </a:extLst>
          </p:cNvPr>
          <p:cNvSpPr txBox="1"/>
          <p:nvPr/>
        </p:nvSpPr>
        <p:spPr>
          <a:xfrm>
            <a:off x="4512212" y="3188118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Interpretation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7B32523-959F-6E9D-0C95-CB3C97C21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793769"/>
              </p:ext>
            </p:extLst>
          </p:nvPr>
        </p:nvGraphicFramePr>
        <p:xfrm>
          <a:off x="470388" y="3798332"/>
          <a:ext cx="3679584" cy="609600"/>
        </p:xfrm>
        <a:graphic>
          <a:graphicData uri="http://schemas.openxmlformats.org/drawingml/2006/table">
            <a:tbl>
              <a:tblPr firstRow="1" firstCol="1" bandRow="1"/>
              <a:tblGrid>
                <a:gridCol w="613264">
                  <a:extLst>
                    <a:ext uri="{9D8B030D-6E8A-4147-A177-3AD203B41FA5}">
                      <a16:colId xmlns:a16="http://schemas.microsoft.com/office/drawing/2014/main" val="4204472788"/>
                    </a:ext>
                  </a:extLst>
                </a:gridCol>
                <a:gridCol w="613264">
                  <a:extLst>
                    <a:ext uri="{9D8B030D-6E8A-4147-A177-3AD203B41FA5}">
                      <a16:colId xmlns:a16="http://schemas.microsoft.com/office/drawing/2014/main" val="1227642412"/>
                    </a:ext>
                  </a:extLst>
                </a:gridCol>
                <a:gridCol w="613264">
                  <a:extLst>
                    <a:ext uri="{9D8B030D-6E8A-4147-A177-3AD203B41FA5}">
                      <a16:colId xmlns:a16="http://schemas.microsoft.com/office/drawing/2014/main" val="631237339"/>
                    </a:ext>
                  </a:extLst>
                </a:gridCol>
                <a:gridCol w="613264">
                  <a:extLst>
                    <a:ext uri="{9D8B030D-6E8A-4147-A177-3AD203B41FA5}">
                      <a16:colId xmlns:a16="http://schemas.microsoft.com/office/drawing/2014/main" val="50423675"/>
                    </a:ext>
                  </a:extLst>
                </a:gridCol>
                <a:gridCol w="613264">
                  <a:extLst>
                    <a:ext uri="{9D8B030D-6E8A-4147-A177-3AD203B41FA5}">
                      <a16:colId xmlns:a16="http://schemas.microsoft.com/office/drawing/2014/main" val="823425288"/>
                    </a:ext>
                  </a:extLst>
                </a:gridCol>
                <a:gridCol w="613264">
                  <a:extLst>
                    <a:ext uri="{9D8B030D-6E8A-4147-A177-3AD203B41FA5}">
                      <a16:colId xmlns:a16="http://schemas.microsoft.com/office/drawing/2014/main" val="36634604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R2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dirty="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RMSE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MAE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MAPE (%)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Extreme Errors (&gt;30%)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Extreme Share (%)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652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dirty="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0.8333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0.4485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0.3062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8.92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1187</a:t>
                      </a:r>
                      <a:endParaRPr lang="en-ID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dirty="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2.54</a:t>
                      </a:r>
                      <a:endParaRPr lang="en-ID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98319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5F837A7-6FF9-A67D-EFC0-003F58A0E1D3}"/>
              </a:ext>
            </a:extLst>
          </p:cNvPr>
          <p:cNvSpPr txBox="1"/>
          <p:nvPr/>
        </p:nvSpPr>
        <p:spPr>
          <a:xfrm>
            <a:off x="838199" y="1820168"/>
            <a:ext cx="60983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Machine learning is used to increase robustness of nonlinear relation and heterogeneity of bilateral data explanation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63E348-FABD-D8A0-B26B-4A955DB348D8}"/>
              </a:ext>
            </a:extLst>
          </p:cNvPr>
          <p:cNvSpPr txBox="1"/>
          <p:nvPr/>
        </p:nvSpPr>
        <p:spPr>
          <a:xfrm>
            <a:off x="516841" y="4878601"/>
            <a:ext cx="34967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Artificial Neural Network best of its interpretability compare to traditional model and handling complex panel data -&gt; </a:t>
            </a:r>
          </a:p>
          <a:p>
            <a:r>
              <a:rPr lang="en-US" sz="1400" dirty="0">
                <a:solidFill>
                  <a:schemeClr val="tx2"/>
                </a:solidFill>
              </a:rPr>
              <a:t>Other model evaluated: Ridge Regression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D6036B76-E42B-86FF-63D6-04578902E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FA599D3-72B0-3F7C-D182-7E933A587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847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CF555-B13A-76B3-2CD6-B1C9E438B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Trade Volume Forecast Model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1A81D5-BA05-EF3C-5CC9-E935D5C9612D}"/>
              </a:ext>
            </a:extLst>
          </p:cNvPr>
          <p:cNvSpPr txBox="1"/>
          <p:nvPr/>
        </p:nvSpPr>
        <p:spPr>
          <a:xfrm>
            <a:off x="838200" y="1321356"/>
            <a:ext cx="8713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Econometric Model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DC0C70C-D02A-6727-4A77-5A9F9D666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410516"/>
              </p:ext>
            </p:extLst>
          </p:nvPr>
        </p:nvGraphicFramePr>
        <p:xfrm>
          <a:off x="277983" y="2646919"/>
          <a:ext cx="5818017" cy="3906520"/>
        </p:xfrm>
        <a:graphic>
          <a:graphicData uri="http://schemas.openxmlformats.org/drawingml/2006/table">
            <a:tbl>
              <a:tblPr firstRow="1" firstCol="1" bandRow="1"/>
              <a:tblGrid>
                <a:gridCol w="1707515">
                  <a:extLst>
                    <a:ext uri="{9D8B030D-6E8A-4147-A177-3AD203B41FA5}">
                      <a16:colId xmlns:a16="http://schemas.microsoft.com/office/drawing/2014/main" val="4012898936"/>
                    </a:ext>
                  </a:extLst>
                </a:gridCol>
                <a:gridCol w="899795">
                  <a:extLst>
                    <a:ext uri="{9D8B030D-6E8A-4147-A177-3AD203B41FA5}">
                      <a16:colId xmlns:a16="http://schemas.microsoft.com/office/drawing/2014/main" val="4048755081"/>
                    </a:ext>
                  </a:extLst>
                </a:gridCol>
                <a:gridCol w="540385">
                  <a:extLst>
                    <a:ext uri="{9D8B030D-6E8A-4147-A177-3AD203B41FA5}">
                      <a16:colId xmlns:a16="http://schemas.microsoft.com/office/drawing/2014/main" val="3166805437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3284313987"/>
                    </a:ext>
                  </a:extLst>
                </a:gridCol>
                <a:gridCol w="540385">
                  <a:extLst>
                    <a:ext uri="{9D8B030D-6E8A-4147-A177-3AD203B41FA5}">
                      <a16:colId xmlns:a16="http://schemas.microsoft.com/office/drawing/2014/main" val="224391272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1905092590"/>
                    </a:ext>
                  </a:extLst>
                </a:gridCol>
                <a:gridCol w="596412">
                  <a:extLst>
                    <a:ext uri="{9D8B030D-6E8A-4147-A177-3AD203B41FA5}">
                      <a16:colId xmlns:a16="http://schemas.microsoft.com/office/drawing/2014/main" val="721992534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PPML Pooled</a:t>
                      </a:r>
                      <a:endParaRPr lang="en-ID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 level Fixed Effect</a:t>
                      </a:r>
                      <a:endParaRPr lang="en-ID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Countries Fixed Effect</a:t>
                      </a:r>
                    </a:p>
                    <a:p>
                      <a:endParaRPr lang="en-US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64431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term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coef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sig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coef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sig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coef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sig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57544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const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-6.283245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-6.141142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7.556117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557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D" sz="10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Origin GDP</a:t>
                      </a:r>
                      <a:endParaRPr lang="en-ID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0.014931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-0.005818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-0.224588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06167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D" sz="10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Destination GDP</a:t>
                      </a:r>
                      <a:endParaRPr lang="en-ID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0.269107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0.261663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-0.014498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948126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D" sz="10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Distance</a:t>
                      </a:r>
                      <a:endParaRPr lang="en-ID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0.202176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0.280375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-0.523133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862742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cepii_contig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0.374009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0.532806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-0.010638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56184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cepii_comlang_ethno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-0.314717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-0.429247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-0.476032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2062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cepii_wto_o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0.423267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0.560496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-0.957258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34966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cepii_wto_d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-0.371407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-0.335851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1.228137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80581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cepii_fta_wto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0.359001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0.342309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0.610227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23058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D" sz="10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cost_per_ton_seamodes</a:t>
                      </a:r>
                      <a:endParaRPr lang="en-ID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0.057826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0.068518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0.076636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40765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lsbci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1.430419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1.517142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3.771242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53519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D" sz="10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origin production qty</a:t>
                      </a:r>
                      <a:endParaRPr lang="en-ID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0.650876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0.618926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0.761669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33184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D" sz="10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Destination production qty</a:t>
                      </a:r>
                      <a:endParaRPr lang="en-ID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0.000541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D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-0.019099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-0.032358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423646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D" sz="10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Origin Daily Calorific Food</a:t>
                      </a:r>
                      <a:endParaRPr lang="en-ID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-0.057533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-0.041713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72801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D" sz="10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Destination Daily Calorific Food</a:t>
                      </a:r>
                      <a:endParaRPr lang="en-ID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0.068177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0.080007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0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ID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20938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7AA68C4-FE85-9375-1D2D-C1A90EB22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47044"/>
              </p:ext>
            </p:extLst>
          </p:nvPr>
        </p:nvGraphicFramePr>
        <p:xfrm>
          <a:off x="6294218" y="4737339"/>
          <a:ext cx="5483860" cy="1816100"/>
        </p:xfrm>
        <a:graphic>
          <a:graphicData uri="http://schemas.openxmlformats.org/drawingml/2006/table">
            <a:tbl>
              <a:tblPr firstRow="1" firstCol="1" bandRow="1"/>
              <a:tblGrid>
                <a:gridCol w="1485216">
                  <a:extLst>
                    <a:ext uri="{9D8B030D-6E8A-4147-A177-3AD203B41FA5}">
                      <a16:colId xmlns:a16="http://schemas.microsoft.com/office/drawing/2014/main" val="2649376447"/>
                    </a:ext>
                  </a:extLst>
                </a:gridCol>
                <a:gridCol w="1298624">
                  <a:extLst>
                    <a:ext uri="{9D8B030D-6E8A-4147-A177-3AD203B41FA5}">
                      <a16:colId xmlns:a16="http://schemas.microsoft.com/office/drawing/2014/main" val="2504425661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2110214992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3443206117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D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pooled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 fixed effect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origin-destination fixed effect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20502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1.85E+05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1.82E+05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1.58E+05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55039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2.41E+04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2.37E+04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1.91E+04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15005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MAPE (%)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2.07E+07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2.24E+07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4.49E+06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531189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-8.72E-10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-9.04E-10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-8.77E-10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047271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Extreme &gt;30% (%)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80.49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80.24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79.12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85748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37723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Adj</a:t>
                      </a:r>
                      <a:r>
                        <a:rPr lang="en-ID" sz="12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R2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2759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0BC0B45-891D-6D12-E2AD-2270CA3D6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497977"/>
              </p:ext>
            </p:extLst>
          </p:nvPr>
        </p:nvGraphicFramePr>
        <p:xfrm>
          <a:off x="6461663" y="2714219"/>
          <a:ext cx="5316415" cy="1645920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2215261">
                  <a:extLst>
                    <a:ext uri="{9D8B030D-6E8A-4147-A177-3AD203B41FA5}">
                      <a16:colId xmlns:a16="http://schemas.microsoft.com/office/drawing/2014/main" val="290910988"/>
                    </a:ext>
                  </a:extLst>
                </a:gridCol>
                <a:gridCol w="1134953">
                  <a:extLst>
                    <a:ext uri="{9D8B030D-6E8A-4147-A177-3AD203B41FA5}">
                      <a16:colId xmlns:a16="http://schemas.microsoft.com/office/drawing/2014/main" val="3635516199"/>
                    </a:ext>
                  </a:extLst>
                </a:gridCol>
                <a:gridCol w="998787">
                  <a:extLst>
                    <a:ext uri="{9D8B030D-6E8A-4147-A177-3AD203B41FA5}">
                      <a16:colId xmlns:a16="http://schemas.microsoft.com/office/drawing/2014/main" val="2937986146"/>
                    </a:ext>
                  </a:extLst>
                </a:gridCol>
                <a:gridCol w="967414">
                  <a:extLst>
                    <a:ext uri="{9D8B030D-6E8A-4147-A177-3AD203B41FA5}">
                      <a16:colId xmlns:a16="http://schemas.microsoft.com/office/drawing/2014/main" val="32371650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Key Insight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Pooled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Product FE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OD FE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5326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Distance elasticity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Unexpectedly +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Still +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Corrected to −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2205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Transport cost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Low but +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Still +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Still +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3124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LSBCI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Significant +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+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 dirty="0">
                          <a:effectLst/>
                        </a:rPr>
                        <a:t>Very strong +</a:t>
                      </a:r>
                      <a:endParaRPr lang="en-ID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4196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Production (Origin)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Strong +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Strong +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Strong +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0507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 dirty="0">
                          <a:effectLst/>
                        </a:rPr>
                        <a:t>Caloric need (Origin)</a:t>
                      </a:r>
                      <a:endParaRPr lang="en-ID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Negative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Negative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Negative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7878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 dirty="0">
                          <a:effectLst/>
                        </a:rPr>
                        <a:t>Caloric need (Destination)</a:t>
                      </a:r>
                      <a:endParaRPr lang="en-ID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Positive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Positive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 dirty="0">
                          <a:effectLst/>
                        </a:rPr>
                        <a:t>Positive</a:t>
                      </a:r>
                      <a:endParaRPr lang="en-ID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61781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D62F45D-1483-E1EA-894A-E41A004BDFCA}"/>
              </a:ext>
            </a:extLst>
          </p:cNvPr>
          <p:cNvSpPr txBox="1"/>
          <p:nvPr/>
        </p:nvSpPr>
        <p:spPr>
          <a:xfrm>
            <a:off x="556844" y="1690688"/>
            <a:ext cx="11063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The study explored two models, the </a:t>
            </a:r>
            <a:r>
              <a:rPr lang="en-US" sz="1800" b="1" dirty="0">
                <a:solidFill>
                  <a:schemeClr val="tx2"/>
                </a:solidFill>
              </a:rPr>
              <a:t>OLS regression </a:t>
            </a:r>
            <a:r>
              <a:rPr lang="en-US" sz="1800" dirty="0">
                <a:solidFill>
                  <a:schemeClr val="tx2"/>
                </a:solidFill>
              </a:rPr>
              <a:t>and the </a:t>
            </a:r>
            <a:r>
              <a:rPr lang="en-US" sz="1800" b="1" dirty="0">
                <a:solidFill>
                  <a:schemeClr val="tx2"/>
                </a:solidFill>
              </a:rPr>
              <a:t>Pseudo-</a:t>
            </a:r>
            <a:r>
              <a:rPr lang="en-US" b="1" dirty="0">
                <a:solidFill>
                  <a:schemeClr val="tx2"/>
                </a:solidFill>
              </a:rPr>
              <a:t>P</a:t>
            </a:r>
            <a:r>
              <a:rPr lang="en-US" sz="1800" b="1" dirty="0">
                <a:solidFill>
                  <a:schemeClr val="tx2"/>
                </a:solidFill>
              </a:rPr>
              <a:t>oisson</a:t>
            </a:r>
            <a:r>
              <a:rPr lang="en-US" b="1" dirty="0">
                <a:solidFill>
                  <a:schemeClr val="tx2"/>
                </a:solidFill>
              </a:rPr>
              <a:t> Maximum </a:t>
            </a:r>
            <a:r>
              <a:rPr lang="en-US" dirty="0">
                <a:solidFill>
                  <a:schemeClr val="tx2"/>
                </a:solidFill>
              </a:rPr>
              <a:t>that is more robust and explicable, supported by latest research results.</a:t>
            </a: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24A6120-BA7A-29E1-93C6-E7F509425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F07FBC0-40D3-EC90-D503-E94319A0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322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86C05-A87F-9569-CF17-6BF22CEA4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4E3FD-3D2D-D132-2DE1-F1ADA8DC2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Trade Volume Forecast Model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25FAA3-8DBA-7E4B-925B-DCC36A7237D0}"/>
              </a:ext>
            </a:extLst>
          </p:cNvPr>
          <p:cNvSpPr txBox="1"/>
          <p:nvPr/>
        </p:nvSpPr>
        <p:spPr>
          <a:xfrm>
            <a:off x="838200" y="1321356"/>
            <a:ext cx="8713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Machine Learning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44EC9-0245-F89F-3E64-264E974E76CA}"/>
              </a:ext>
            </a:extLst>
          </p:cNvPr>
          <p:cNvSpPr txBox="1"/>
          <p:nvPr/>
        </p:nvSpPr>
        <p:spPr>
          <a:xfrm>
            <a:off x="669385" y="1690688"/>
            <a:ext cx="10331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The study explored several models (ARIMA, Neural Network, Decision Tree), Feed Forward Neural network is more fit to observed data structure and characteristic</a:t>
            </a:r>
            <a:r>
              <a:rPr lang="en-US" dirty="0">
                <a:solidFill>
                  <a:schemeClr val="tx2"/>
                </a:solidFill>
              </a:rPr>
              <a:t>.</a:t>
            </a:r>
            <a:endParaRPr lang="en-US" sz="1800" dirty="0">
              <a:solidFill>
                <a:schemeClr val="tx2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F1AF9F3-C34A-28AF-1CF1-28432FFCD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115890"/>
              </p:ext>
            </p:extLst>
          </p:nvPr>
        </p:nvGraphicFramePr>
        <p:xfrm>
          <a:off x="4789730" y="2491954"/>
          <a:ext cx="3597275" cy="1511300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977390">
                  <a:extLst>
                    <a:ext uri="{9D8B030D-6E8A-4147-A177-3AD203B41FA5}">
                      <a16:colId xmlns:a16="http://schemas.microsoft.com/office/drawing/2014/main" val="2116210521"/>
                    </a:ext>
                  </a:extLst>
                </a:gridCol>
                <a:gridCol w="1619885">
                  <a:extLst>
                    <a:ext uri="{9D8B030D-6E8A-4147-A177-3AD203B41FA5}">
                      <a16:colId xmlns:a16="http://schemas.microsoft.com/office/drawing/2014/main" val="3773241506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Model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ANN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128395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R2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0.8757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424744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 dirty="0">
                          <a:effectLst/>
                        </a:rPr>
                        <a:t>RMSE</a:t>
                      </a:r>
                      <a:endParaRPr lang="en-ID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1.1657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95579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MAE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0.7619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063565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MAPE (%)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36.13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352233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Extreme Errors (&gt;30%)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8543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063171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>
                          <a:effectLst/>
                        </a:rPr>
                        <a:t>Extreme Share (%)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kern="100" dirty="0">
                          <a:effectLst/>
                        </a:rPr>
                        <a:t>14.28</a:t>
                      </a:r>
                      <a:endParaRPr lang="en-ID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500859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17CD0EC-A965-C9C2-45DD-B45E010C79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610141"/>
              </p:ext>
            </p:extLst>
          </p:nvPr>
        </p:nvGraphicFramePr>
        <p:xfrm>
          <a:off x="669385" y="2491954"/>
          <a:ext cx="3649394" cy="4366046"/>
        </p:xfrm>
        <a:graphic>
          <a:graphicData uri="http://schemas.openxmlformats.org/drawingml/2006/table">
            <a:tbl>
              <a:tblPr firstRow="1" firstCol="1" bandRow="1"/>
              <a:tblGrid>
                <a:gridCol w="484163">
                  <a:extLst>
                    <a:ext uri="{9D8B030D-6E8A-4147-A177-3AD203B41FA5}">
                      <a16:colId xmlns:a16="http://schemas.microsoft.com/office/drawing/2014/main" val="780641075"/>
                    </a:ext>
                  </a:extLst>
                </a:gridCol>
                <a:gridCol w="1913206">
                  <a:extLst>
                    <a:ext uri="{9D8B030D-6E8A-4147-A177-3AD203B41FA5}">
                      <a16:colId xmlns:a16="http://schemas.microsoft.com/office/drawing/2014/main" val="2257860194"/>
                    </a:ext>
                  </a:extLst>
                </a:gridCol>
                <a:gridCol w="1252025">
                  <a:extLst>
                    <a:ext uri="{9D8B030D-6E8A-4147-A177-3AD203B41FA5}">
                      <a16:colId xmlns:a16="http://schemas.microsoft.com/office/drawing/2014/main" val="1357665439"/>
                    </a:ext>
                  </a:extLst>
                </a:gridCol>
              </a:tblGrid>
              <a:tr h="580178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 dirty="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n-ID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 dirty="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variable</a:t>
                      </a:r>
                      <a:endParaRPr lang="en-ID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 dirty="0" err="1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Significancies</a:t>
                      </a:r>
                      <a:endParaRPr lang="en-ID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41210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 dirty="0" err="1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origin_production_qty</a:t>
                      </a:r>
                      <a:endParaRPr lang="en-ID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0.908393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26059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 dirty="0" err="1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cost_per_ton_seamodes</a:t>
                      </a:r>
                      <a:endParaRPr lang="en-ID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0.673463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39888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cepii_fta_wto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0.281233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63324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 dirty="0" err="1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Destination_GDP</a:t>
                      </a:r>
                      <a:endParaRPr lang="en-ID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0.259637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00338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lsbci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0.206997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56197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 dirty="0" err="1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destination_production_qty</a:t>
                      </a:r>
                      <a:endParaRPr lang="en-ID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0.204989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84710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 dirty="0" err="1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Origin_Daily_Calorific_Food</a:t>
                      </a:r>
                      <a:endParaRPr lang="en-ID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0.152399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25692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cepii_wto_o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0.108604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68124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cepii_comlang_ethno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0.092631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22474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cepii_contig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0.080712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97200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cepii_wto_d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0.063990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03133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 dirty="0" err="1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Destination_Daily_Calorific_Food</a:t>
                      </a:r>
                      <a:endParaRPr lang="en-ID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0.058310</a:t>
                      </a:r>
                      <a:endParaRPr lang="en-ID" sz="11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05352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 dirty="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en-ID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 dirty="0" err="1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Origin_GDP</a:t>
                      </a:r>
                      <a:endParaRPr lang="en-ID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1200"/>
                        </a:spcAft>
                        <a:buNone/>
                      </a:pPr>
                      <a:r>
                        <a:rPr lang="en-ID" sz="1000" kern="100" dirty="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0.047187</a:t>
                      </a:r>
                      <a:endParaRPr lang="en-ID" sz="11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004918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5509D6C8-54EE-AD50-FF51-A90DDE976485}"/>
              </a:ext>
            </a:extLst>
          </p:cNvPr>
          <p:cNvSpPr/>
          <p:nvPr/>
        </p:nvSpPr>
        <p:spPr>
          <a:xfrm>
            <a:off x="4789730" y="4381493"/>
            <a:ext cx="6984928" cy="96422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Machine Learning Models for both Transport Cost and Trade Volume overweight Econometric / Traditional Models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B19FFA8-1D84-C3F3-5096-AF6C25E71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83D3587-E14F-B500-1BB5-E5F5A0AFE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17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BAB44-21B3-604F-A76B-5DAD305AE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8510B-9621-87E2-132D-7B60C7D26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Future Forecast Projection - Baseline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0F0E8C-6741-6FC0-B2B3-D0ED9C13D2CC}"/>
              </a:ext>
            </a:extLst>
          </p:cNvPr>
          <p:cNvSpPr/>
          <p:nvPr/>
        </p:nvSpPr>
        <p:spPr>
          <a:xfrm>
            <a:off x="189905" y="1705259"/>
            <a:ext cx="1988530" cy="7430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Model Trained using Data 2015-2021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55A66B-2B74-FB5A-BDB1-A00AD7830B2B}"/>
              </a:ext>
            </a:extLst>
          </p:cNvPr>
          <p:cNvSpPr/>
          <p:nvPr/>
        </p:nvSpPr>
        <p:spPr>
          <a:xfrm>
            <a:off x="189905" y="2706040"/>
            <a:ext cx="1988530" cy="74302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/>
              <a:t>Reconstruction the 2022-2024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11AF1D-69DD-4A88-791F-4C4EBE632785}"/>
              </a:ext>
            </a:extLst>
          </p:cNvPr>
          <p:cNvSpPr/>
          <p:nvPr/>
        </p:nvSpPr>
        <p:spPr>
          <a:xfrm>
            <a:off x="189905" y="5457198"/>
            <a:ext cx="1988530" cy="72434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/>
              <a:t>Projection for 2025-2030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35A16E-4D87-1C75-26D3-4EC320375CA5}"/>
              </a:ext>
            </a:extLst>
          </p:cNvPr>
          <p:cNvSpPr/>
          <p:nvPr/>
        </p:nvSpPr>
        <p:spPr>
          <a:xfrm>
            <a:off x="189905" y="3934973"/>
            <a:ext cx="1988530" cy="74302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/>
              <a:t>Baseline assumption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6A25D5-CC7F-7A63-FD94-BCABBE8C7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538" y="4780740"/>
            <a:ext cx="5795440" cy="20772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0EE7C0-698A-43DC-D150-6854D6799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0818" y="3232295"/>
            <a:ext cx="5597589" cy="1782644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35440BE-4FAD-461A-5414-5084D4256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190437"/>
              </p:ext>
            </p:extLst>
          </p:nvPr>
        </p:nvGraphicFramePr>
        <p:xfrm>
          <a:off x="2971229" y="1720590"/>
          <a:ext cx="6679208" cy="1415798"/>
        </p:xfrm>
        <a:graphic>
          <a:graphicData uri="http://schemas.openxmlformats.org/drawingml/2006/table">
            <a:tbl>
              <a:tblPr firstRow="1" firstCol="1" bandRow="1">
                <a:tableStyleId>{284E427A-3D55-4303-BF80-6455036E1DE7}</a:tableStyleId>
              </a:tblPr>
              <a:tblGrid>
                <a:gridCol w="2703796">
                  <a:extLst>
                    <a:ext uri="{9D8B030D-6E8A-4147-A177-3AD203B41FA5}">
                      <a16:colId xmlns:a16="http://schemas.microsoft.com/office/drawing/2014/main" val="1860447291"/>
                    </a:ext>
                  </a:extLst>
                </a:gridCol>
                <a:gridCol w="3975412">
                  <a:extLst>
                    <a:ext uri="{9D8B030D-6E8A-4147-A177-3AD203B41FA5}">
                      <a16:colId xmlns:a16="http://schemas.microsoft.com/office/drawing/2014/main" val="4278175426"/>
                    </a:ext>
                  </a:extLst>
                </a:gridCol>
              </a:tblGrid>
              <a:tr h="129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kern="100">
                          <a:effectLst/>
                        </a:rPr>
                        <a:t>Variable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kern="100">
                          <a:effectLst/>
                        </a:rPr>
                        <a:t>Assumption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8680007"/>
                  </a:ext>
                </a:extLst>
              </a:tr>
              <a:tr h="381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kern="100">
                          <a:effectLst/>
                        </a:rPr>
                        <a:t>GDP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kern="100" dirty="0">
                          <a:effectLst/>
                        </a:rPr>
                        <a:t>Constant annual growth (historical average) 1.6% GDP per cap and 1.3% Population growth</a:t>
                      </a:r>
                      <a:endParaRPr lang="en-ID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130735"/>
                  </a:ext>
                </a:extLst>
              </a:tr>
              <a:tr h="129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kern="100">
                          <a:effectLst/>
                        </a:rPr>
                        <a:t>Freight rates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kern="100">
                          <a:effectLst/>
                        </a:rPr>
                        <a:t>Stable at 2024 level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1940542"/>
                  </a:ext>
                </a:extLst>
              </a:tr>
              <a:tr h="257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kern="100">
                          <a:effectLst/>
                        </a:rPr>
                        <a:t>Connectivity (LSBCI)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kern="100" dirty="0">
                          <a:effectLst/>
                        </a:rPr>
                        <a:t>Fixed</a:t>
                      </a:r>
                      <a:endParaRPr lang="en-ID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7340871"/>
                  </a:ext>
                </a:extLst>
              </a:tr>
              <a:tr h="129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kern="100">
                          <a:effectLst/>
                        </a:rPr>
                        <a:t>Distance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kern="100">
                          <a:effectLst/>
                        </a:rPr>
                        <a:t>Fixed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1696788"/>
                  </a:ext>
                </a:extLst>
              </a:tr>
              <a:tr h="129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kern="100">
                          <a:effectLst/>
                        </a:rPr>
                        <a:t>Production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kern="100">
                          <a:effectLst/>
                        </a:rPr>
                        <a:t>Fixed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1703759"/>
                  </a:ext>
                </a:extLst>
              </a:tr>
              <a:tr h="166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kern="100">
                          <a:effectLst/>
                        </a:rPr>
                        <a:t>Caloric demand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00" kern="100" dirty="0">
                          <a:effectLst/>
                        </a:rPr>
                        <a:t>Fixed</a:t>
                      </a:r>
                      <a:endParaRPr lang="en-ID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1526189"/>
                  </a:ext>
                </a:extLst>
              </a:tr>
            </a:tbl>
          </a:graphicData>
        </a:graphic>
      </p:graphicFrame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C153BE0-C8D6-E85C-0444-E33AA760F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FAE5AB6-98F5-3E33-0F2F-B4BFCF5D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67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D0DF7-328B-ECF2-D244-8D115C52B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2F048-414A-9CE2-FCD4-82C8C2DC2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Case based Simulation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069051-B6B7-89AC-9606-2092FE91A971}"/>
              </a:ext>
            </a:extLst>
          </p:cNvPr>
          <p:cNvSpPr txBox="1"/>
          <p:nvPr/>
        </p:nvSpPr>
        <p:spPr>
          <a:xfrm>
            <a:off x="189905" y="1388033"/>
            <a:ext cx="36505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dirty="0">
                <a:effectLst/>
                <a:ea typeface="Times New Roman" panose="02020603050405020304" pitchFamily="18" charset="0"/>
              </a:rPr>
              <a:t>This simulation developed to quantify the sensitivity of </a:t>
            </a:r>
            <a:r>
              <a:rPr lang="en-ID" dirty="0">
                <a:ea typeface="Times New Roman" panose="02020603050405020304" pitchFamily="18" charset="0"/>
              </a:rPr>
              <a:t>the models </a:t>
            </a:r>
            <a:r>
              <a:rPr lang="en-ID" sz="1800" dirty="0">
                <a:effectLst/>
                <a:ea typeface="Times New Roman" panose="02020603050405020304" pitchFamily="18" charset="0"/>
              </a:rPr>
              <a:t>with apply stress/shocks to the predicting variables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FA0CDE-9E61-055F-0FE6-B96068122878}"/>
              </a:ext>
            </a:extLst>
          </p:cNvPr>
          <p:cNvSpPr/>
          <p:nvPr/>
        </p:nvSpPr>
        <p:spPr>
          <a:xfrm>
            <a:off x="189905" y="3037701"/>
            <a:ext cx="1988530" cy="47014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/>
              <a:t>Black sea conflicts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1929A0-95E3-C6BE-25AC-BB442DAB7205}"/>
              </a:ext>
            </a:extLst>
          </p:cNvPr>
          <p:cNvSpPr/>
          <p:nvPr/>
        </p:nvSpPr>
        <p:spPr>
          <a:xfrm>
            <a:off x="189905" y="3744348"/>
            <a:ext cx="1988530" cy="327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/>
              <a:t>EU 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029D57-F714-261F-495E-1D378783904A}"/>
              </a:ext>
            </a:extLst>
          </p:cNvPr>
          <p:cNvSpPr/>
          <p:nvPr/>
        </p:nvSpPr>
        <p:spPr>
          <a:xfrm>
            <a:off x="189905" y="4301904"/>
            <a:ext cx="1988530" cy="4289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/>
              <a:t>La Nina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9CE81D-5001-5B5F-2E4E-47423B872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695" y="1413219"/>
            <a:ext cx="7772400" cy="23311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2F48D8-53E6-A960-4F6B-AFAE4A020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695" y="3796610"/>
            <a:ext cx="7772400" cy="21536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0EF3E0-6D73-EAF8-838E-53285AEAD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905" y="4873441"/>
            <a:ext cx="2900290" cy="1868456"/>
          </a:xfrm>
          <a:prstGeom prst="rect">
            <a:avLst/>
          </a:prstGeom>
        </p:spPr>
      </p:pic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63A6DB9-6B69-14A1-90F1-7CE6DF7EC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EC077F4-D335-FC82-5524-C1CEB0681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792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0AF7A-4F7C-70B0-11BD-391B8ECEB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154F8-B6A2-0665-3BEB-1115F0462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Case based Simulation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E8AE43-23C1-2930-A5EC-072376790202}"/>
              </a:ext>
            </a:extLst>
          </p:cNvPr>
          <p:cNvSpPr txBox="1"/>
          <p:nvPr/>
        </p:nvSpPr>
        <p:spPr>
          <a:xfrm>
            <a:off x="189905" y="1388033"/>
            <a:ext cx="36505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dirty="0">
                <a:effectLst/>
                <a:ea typeface="Times New Roman" panose="02020603050405020304" pitchFamily="18" charset="0"/>
              </a:rPr>
              <a:t>This simulation developed to quantify the sensitivity of </a:t>
            </a:r>
            <a:r>
              <a:rPr lang="en-ID" dirty="0">
                <a:ea typeface="Times New Roman" panose="02020603050405020304" pitchFamily="18" charset="0"/>
              </a:rPr>
              <a:t>the models </a:t>
            </a:r>
            <a:r>
              <a:rPr lang="en-ID" sz="1800" dirty="0">
                <a:effectLst/>
                <a:ea typeface="Times New Roman" panose="02020603050405020304" pitchFamily="18" charset="0"/>
              </a:rPr>
              <a:t>with apply stress/shocks to the predicting variables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D64ACE-C6AA-D6CF-D4B8-00718F25CDD1}"/>
              </a:ext>
            </a:extLst>
          </p:cNvPr>
          <p:cNvSpPr/>
          <p:nvPr/>
        </p:nvSpPr>
        <p:spPr>
          <a:xfrm>
            <a:off x="189905" y="3037701"/>
            <a:ext cx="1988530" cy="4701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/>
              <a:t>Black sea conflicts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9FBCF-1F84-289F-05FF-0F071E35056F}"/>
              </a:ext>
            </a:extLst>
          </p:cNvPr>
          <p:cNvSpPr/>
          <p:nvPr/>
        </p:nvSpPr>
        <p:spPr>
          <a:xfrm>
            <a:off x="189905" y="3744348"/>
            <a:ext cx="1988530" cy="32732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/>
              <a:t>EU 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67129A-BD2A-EBBF-45CD-A610A415B106}"/>
              </a:ext>
            </a:extLst>
          </p:cNvPr>
          <p:cNvSpPr/>
          <p:nvPr/>
        </p:nvSpPr>
        <p:spPr>
          <a:xfrm>
            <a:off x="189905" y="4301904"/>
            <a:ext cx="1988530" cy="4289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/>
              <a:t>La Nina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1F56AE-3018-5345-3B1F-1B15FC59E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690688"/>
            <a:ext cx="7772400" cy="23293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94804C-36FA-DE7B-F129-853D47749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04" y="4862591"/>
            <a:ext cx="2952781" cy="18476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3BE4F7-D9F4-E781-F9E8-5E3C951C4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4020012"/>
            <a:ext cx="7772400" cy="2580486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85FE25D-1CD0-62C8-2676-FA40C62D8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EC6DA60-64C3-AC28-E3A4-3F012DF5A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69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501F9-B338-2756-F047-D1CB436A6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Conclusion &amp; Implications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AE3587-786B-F5C8-D121-CF2C2B5EA69A}"/>
                  </a:ext>
                </a:extLst>
              </p:cNvPr>
              <p:cNvSpPr txBox="1"/>
              <p:nvPr/>
            </p:nvSpPr>
            <p:spPr>
              <a:xfrm>
                <a:off x="-229186" y="2485223"/>
                <a:ext cx="12650372" cy="37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Sea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𝑇𝑟𝑎𝑑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𝐺𝐷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𝐺𝐷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sea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cost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per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ton</m:t>
                          </m:r>
                        </m:e>
                      </m:d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Calorific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Needs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) +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Production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…..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AE3587-786B-F5C8-D121-CF2C2B5EA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9186" y="2485223"/>
                <a:ext cx="12650372" cy="376000"/>
              </a:xfrm>
              <a:prstGeom prst="rect">
                <a:avLst/>
              </a:prstGeom>
              <a:blipFill>
                <a:blip r:embed="rId2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71F14F68-25C3-F4C9-105B-24617AD1294A}"/>
              </a:ext>
            </a:extLst>
          </p:cNvPr>
          <p:cNvSpPr/>
          <p:nvPr/>
        </p:nvSpPr>
        <p:spPr>
          <a:xfrm>
            <a:off x="8469626" y="2928996"/>
            <a:ext cx="1512574" cy="47014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/>
              <a:t>Food security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DA925-BBA8-C382-B992-4161BF9A9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0866EA-D2A7-1287-0B22-27B0E81F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17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EA5E95-0CED-3F95-6B70-3824516CFC78}"/>
              </a:ext>
            </a:extLst>
          </p:cNvPr>
          <p:cNvSpPr/>
          <p:nvPr/>
        </p:nvSpPr>
        <p:spPr>
          <a:xfrm>
            <a:off x="5339713" y="2928996"/>
            <a:ext cx="1512574" cy="47014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/>
              <a:t>Transport Cost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385142-8C3D-FB6D-91EB-9319CE6DCDFC}"/>
              </a:ext>
            </a:extLst>
          </p:cNvPr>
          <p:cNvSpPr txBox="1"/>
          <p:nvPr/>
        </p:nvSpPr>
        <p:spPr>
          <a:xfrm>
            <a:off x="423203" y="1506022"/>
            <a:ext cx="103526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Correlation of Food Security and Maritime Transport. 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C15186-5526-F981-7451-3B2609BA7BC1}"/>
              </a:ext>
            </a:extLst>
          </p:cNvPr>
          <p:cNvSpPr txBox="1"/>
          <p:nvPr/>
        </p:nvSpPr>
        <p:spPr>
          <a:xfrm>
            <a:off x="396388" y="4155159"/>
            <a:ext cx="8678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>
                <a:latin typeface="Times New Roman" panose="02020603050405020304" pitchFamily="18" charset="0"/>
              </a:rPr>
              <a:t>2. Transport cost and Trade Flow Forecast model for Future Projection/Simulation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BDEDBF7-624C-82DC-C4B8-51EF1863B7C1}"/>
                  </a:ext>
                </a:extLst>
              </p:cNvPr>
              <p:cNvSpPr txBox="1"/>
              <p:nvPr/>
            </p:nvSpPr>
            <p:spPr>
              <a:xfrm>
                <a:off x="482989" y="1994704"/>
                <a:ext cx="11868443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D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4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Sea</m:t>
                          </m:r>
                          <m:r>
                            <m:rPr>
                              <m:nor/>
                            </m:rPr>
                            <a:rPr lang="en-US" sz="1400" b="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D" sz="14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Cost</m:t>
                          </m:r>
                          <m:r>
                            <m:rPr>
                              <m:nor/>
                            </m:rPr>
                            <a:rPr lang="en-ID" sz="14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D" sz="14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per</m:t>
                          </m:r>
                          <m:r>
                            <m:rPr>
                              <m:nor/>
                            </m:rPr>
                            <a:rPr lang="en-ID" sz="14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D" sz="14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ton</m:t>
                          </m:r>
                          <m: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𝑖𝑗𝑐</m:t>
                          </m:r>
                        </m:e>
                      </m:d>
                      <m:r>
                        <a:rPr lang="en-ID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D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D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D" sz="14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ID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ID" sz="14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Dist</m:t>
                              </m:r>
                              <m:r>
                                <a:rPr lang="en-ID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𝑖𝑗</m:t>
                              </m:r>
                            </m:e>
                          </m:d>
                        </m:e>
                      </m:func>
                      <m:r>
                        <a:rPr lang="en-ID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D" sz="14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ID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ID" sz="14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FBX</m:t>
                              </m:r>
                            </m:e>
                          </m:d>
                        </m:e>
                      </m:func>
                      <m:r>
                        <a:rPr lang="en-ID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D" sz="14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ID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ID" sz="14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BDI</m:t>
                              </m:r>
                            </m:e>
                          </m:d>
                        </m:e>
                      </m:func>
                      <m:r>
                        <a:rPr lang="en-ID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m:rPr>
                          <m:nor/>
                        </m:rPr>
                        <a:rPr lang="en-ID" sz="14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Conn</m:t>
                      </m:r>
                      <m:r>
                        <a:rPr lang="en-ID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𝑖𝑗</m:t>
                      </m:r>
                      <m:r>
                        <a:rPr lang="en-ID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5</m:t>
                          </m:r>
                        </m:sub>
                      </m:sSub>
                      <m:r>
                        <m:rPr>
                          <m:nor/>
                        </m:rPr>
                        <a:rPr lang="en-ID" sz="14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BulkShare</m:t>
                      </m:r>
                      <m:r>
                        <a:rPr lang="en-ID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𝑖𝑗𝑐</m:t>
                      </m:r>
                      <m:r>
                        <a:rPr lang="en-ID" sz="1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D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𝑖𝑗𝑐</m:t>
                          </m:r>
                        </m:sub>
                      </m:sSub>
                    </m:oMath>
                  </m:oMathPara>
                </a14:m>
                <a:endParaRPr lang="en-ID" sz="1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BDEDBF7-624C-82DC-C4B8-51EF1863B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89" y="1994704"/>
                <a:ext cx="11868443" cy="325089"/>
              </a:xfrm>
              <a:prstGeom prst="rect">
                <a:avLst/>
              </a:prstGeom>
              <a:blipFill>
                <a:blip r:embed="rId3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F1E61B19-CF43-81F3-BCA0-568CEC4A35C3}"/>
              </a:ext>
            </a:extLst>
          </p:cNvPr>
          <p:cNvCxnSpPr>
            <a:cxnSpLocks/>
          </p:cNvCxnSpPr>
          <p:nvPr/>
        </p:nvCxnSpPr>
        <p:spPr>
          <a:xfrm>
            <a:off x="2011680" y="2363372"/>
            <a:ext cx="3868615" cy="121851"/>
          </a:xfrm>
          <a:prstGeom prst="bentConnector3">
            <a:avLst>
              <a:gd name="adj1" fmla="val -1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156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EC7F9-6D0A-DA7F-39ED-AAEA28D3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Limitations &amp; Future Research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729CCE-0285-67CE-C571-DB6630205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2A5DE-649F-C3B2-0997-1AA837BCF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13A9-A72D-424B-BC9C-5FF1B9B3380D}" type="slidenum">
              <a:rPr lang="en-US" smtClean="0"/>
              <a:t>18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938642B-59B1-8FC5-AB58-115E1A48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870" y="1630707"/>
            <a:ext cx="5176349" cy="4306267"/>
          </a:xfrm>
        </p:spPr>
        <p:txBody>
          <a:bodyPr>
            <a:normAutofit lnSpcReduction="10000"/>
          </a:bodyPr>
          <a:lstStyle/>
          <a:p>
            <a:r>
              <a:rPr lang="en-US" sz="2300" dirty="0" err="1">
                <a:solidFill>
                  <a:schemeClr val="tx2"/>
                </a:solidFill>
              </a:rPr>
              <a:t>Billateral</a:t>
            </a:r>
            <a:r>
              <a:rPr lang="en-US" sz="2300" dirty="0">
                <a:solidFill>
                  <a:schemeClr val="tx2"/>
                </a:solidFill>
              </a:rPr>
              <a:t> Trade Data period 2017-2021, Aggregate by Mode, Aggregate by Country Level</a:t>
            </a:r>
          </a:p>
          <a:p>
            <a:r>
              <a:rPr lang="en-US" sz="2300" dirty="0">
                <a:solidFill>
                  <a:schemeClr val="tx2"/>
                </a:solidFill>
              </a:rPr>
              <a:t>Cereals trade, and Trade by Product for Forecast Model observation.</a:t>
            </a:r>
          </a:p>
          <a:p>
            <a:r>
              <a:rPr lang="en-US" sz="2300" dirty="0">
                <a:solidFill>
                  <a:schemeClr val="tx2"/>
                </a:solidFill>
              </a:rPr>
              <a:t>The transport proxy predictors are based on aggregated value and generalized over countries/Corridors.</a:t>
            </a:r>
          </a:p>
          <a:p>
            <a:r>
              <a:rPr lang="en-US" sz="2300" dirty="0">
                <a:solidFill>
                  <a:schemeClr val="tx2"/>
                </a:solidFill>
              </a:rPr>
              <a:t>The Forecast projection and segmentation analysis is limited to bilateral country flow, with generalize shocks assumption and analysis.</a:t>
            </a:r>
          </a:p>
          <a:p>
            <a:endParaRPr lang="en-US" sz="2300" dirty="0">
              <a:solidFill>
                <a:schemeClr val="tx2"/>
              </a:solidFill>
            </a:endParaRPr>
          </a:p>
          <a:p>
            <a:endParaRPr lang="en-US" sz="2300" dirty="0">
              <a:solidFill>
                <a:schemeClr val="tx2"/>
              </a:solidFill>
            </a:endParaRPr>
          </a:p>
          <a:p>
            <a:endParaRPr lang="en-US" sz="2300" dirty="0">
              <a:solidFill>
                <a:schemeClr val="tx2"/>
              </a:solidFill>
            </a:endParaRPr>
          </a:p>
          <a:p>
            <a:endParaRPr lang="en-US" sz="2300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4E31440-A630-DDED-AEF3-631E8D4E8380}"/>
              </a:ext>
            </a:extLst>
          </p:cNvPr>
          <p:cNvSpPr txBox="1">
            <a:spLocks/>
          </p:cNvSpPr>
          <p:nvPr/>
        </p:nvSpPr>
        <p:spPr>
          <a:xfrm>
            <a:off x="5905219" y="1630706"/>
            <a:ext cx="5911643" cy="430626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300" dirty="0">
                <a:solidFill>
                  <a:schemeClr val="tx2"/>
                </a:solidFill>
              </a:rPr>
              <a:t>A longer and updated data observation, for Transport cost Trade</a:t>
            </a:r>
          </a:p>
          <a:p>
            <a:r>
              <a:rPr lang="en-US" sz="2300" dirty="0">
                <a:solidFill>
                  <a:schemeClr val="tx2"/>
                </a:solidFill>
              </a:rPr>
              <a:t>Cereals trade and breakdown to Cargo-type level for Forecast Model observation.</a:t>
            </a:r>
          </a:p>
          <a:p>
            <a:r>
              <a:rPr lang="en-US" sz="2300" dirty="0">
                <a:solidFill>
                  <a:schemeClr val="tx2"/>
                </a:solidFill>
              </a:rPr>
              <a:t>More Specific panel and transport-maritime transport predictors, such as Origin /Destination Port efficiency, maritime traffic, and Freight Rate/Charter Rate per Corridor</a:t>
            </a:r>
          </a:p>
          <a:p>
            <a:r>
              <a:rPr lang="en-US" sz="2300" dirty="0">
                <a:solidFill>
                  <a:schemeClr val="tx2"/>
                </a:solidFill>
              </a:rPr>
              <a:t>Include port-to-port flow (Export Port-</a:t>
            </a:r>
            <a:r>
              <a:rPr lang="en-US" sz="2300" dirty="0" err="1">
                <a:solidFill>
                  <a:schemeClr val="tx2"/>
                </a:solidFill>
              </a:rPr>
              <a:t>Transhipment</a:t>
            </a:r>
            <a:r>
              <a:rPr lang="en-US" sz="2300" dirty="0">
                <a:solidFill>
                  <a:schemeClr val="tx2"/>
                </a:solidFill>
              </a:rPr>
              <a:t>-Import Port), AIS data of Ship movement along choke-point.</a:t>
            </a:r>
          </a:p>
          <a:p>
            <a:r>
              <a:rPr lang="en-US" sz="2300" dirty="0">
                <a:solidFill>
                  <a:schemeClr val="tx2"/>
                </a:solidFill>
              </a:rPr>
              <a:t>Detail Policy/Risk analysis from the Forecast Projection  </a:t>
            </a:r>
          </a:p>
          <a:p>
            <a:endParaRPr lang="en-US" sz="2300" dirty="0">
              <a:solidFill>
                <a:schemeClr val="tx2"/>
              </a:solidFill>
            </a:endParaRPr>
          </a:p>
          <a:p>
            <a:endParaRPr lang="en-US" sz="2300" dirty="0">
              <a:solidFill>
                <a:schemeClr val="tx2"/>
              </a:solidFill>
            </a:endParaRPr>
          </a:p>
          <a:p>
            <a:endParaRPr lang="en-US" sz="2300" dirty="0">
              <a:solidFill>
                <a:schemeClr val="tx2"/>
              </a:solidFill>
            </a:endParaRPr>
          </a:p>
          <a:p>
            <a:endParaRPr lang="en-US" sz="2300" dirty="0">
              <a:solidFill>
                <a:schemeClr val="tx2"/>
              </a:solidFill>
            </a:endParaRPr>
          </a:p>
          <a:p>
            <a:endParaRPr lang="en-US" sz="2300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43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P HI Paris">
      <a:dk1>
        <a:srgbClr val="004474"/>
      </a:dk1>
      <a:lt1>
        <a:srgbClr val="FFFFFF"/>
      </a:lt1>
      <a:dk2>
        <a:srgbClr val="1F1F1F"/>
      </a:dk2>
      <a:lt2>
        <a:srgbClr val="E51751"/>
      </a:lt2>
      <a:accent1>
        <a:srgbClr val="EB0201"/>
      </a:accent1>
      <a:accent2>
        <a:srgbClr val="80A2BA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377D062-C540-F846-A4CE-212D07A89F06}">
  <we:reference id="wa200000113" version="1.0.0.0" store="en-US" storeType="OMEX"/>
  <we:alternateReferences>
    <we:reference id="wa200000113" version="1.0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5718</TotalTime>
  <Words>1575</Words>
  <Application>Microsoft Macintosh PowerPoint</Application>
  <PresentationFormat>Widescreen</PresentationFormat>
  <Paragraphs>539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Cambria Math</vt:lpstr>
      <vt:lpstr>Century Gothic</vt:lpstr>
      <vt:lpstr>Segoe UI</vt:lpstr>
      <vt:lpstr>Times New Roman</vt:lpstr>
      <vt:lpstr>Office Theme</vt:lpstr>
      <vt:lpstr>Segmentation and Forecasting of Maritime Cereal Trade for Food Security: A Bilateral Gravity–Machine Learning Framework</vt:lpstr>
      <vt:lpstr>Why This Study Matters</vt:lpstr>
      <vt:lpstr>Research Question and Output</vt:lpstr>
      <vt:lpstr>Data and Segmentation Methodology</vt:lpstr>
      <vt:lpstr>Forecast and Projection Methodology</vt:lpstr>
      <vt:lpstr>Important Commodities to Calorific Need</vt:lpstr>
      <vt:lpstr>Maritime Importance in the Cereal Trade structure</vt:lpstr>
      <vt:lpstr>Segmentation: Country Vulnurability</vt:lpstr>
      <vt:lpstr>Segmentation: Corridor Opportunity</vt:lpstr>
      <vt:lpstr>Transport Cost Forecast Model </vt:lpstr>
      <vt:lpstr>Transport Cost Forecast Model </vt:lpstr>
      <vt:lpstr>Trade Volume Forecast Model</vt:lpstr>
      <vt:lpstr>Trade Volume Forecast Model</vt:lpstr>
      <vt:lpstr>Future Forecast Projection - Baseline</vt:lpstr>
      <vt:lpstr>Case based Simulation</vt:lpstr>
      <vt:lpstr>Case based Simulation</vt:lpstr>
      <vt:lpstr>Conclusion &amp; Implications</vt:lpstr>
      <vt:lpstr>Limitations &amp; Future Research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bima surya wicaksana</dc:creator>
  <cp:lastModifiedBy>bima surya wicaksana</cp:lastModifiedBy>
  <cp:revision>1</cp:revision>
  <dcterms:created xsi:type="dcterms:W3CDTF">2026-02-15T15:08:40Z</dcterms:created>
  <dcterms:modified xsi:type="dcterms:W3CDTF">2026-02-19T14:27:28Z</dcterms:modified>
</cp:coreProperties>
</file>